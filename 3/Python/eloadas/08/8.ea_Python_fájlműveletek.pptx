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82" r:id="rId4"/>
    <p:sldId id="259" r:id="rId5"/>
    <p:sldId id="261" r:id="rId6"/>
    <p:sldId id="263" r:id="rId7"/>
    <p:sldId id="265" r:id="rId8"/>
    <p:sldId id="267" r:id="rId9"/>
    <p:sldId id="422" r:id="rId10"/>
    <p:sldId id="427" r:id="rId11"/>
    <p:sldId id="258" r:id="rId12"/>
    <p:sldId id="260" r:id="rId13"/>
    <p:sldId id="429" r:id="rId14"/>
    <p:sldId id="262" r:id="rId15"/>
    <p:sldId id="423" r:id="rId16"/>
    <p:sldId id="435" r:id="rId17"/>
    <p:sldId id="442" r:id="rId18"/>
    <p:sldId id="445" r:id="rId19"/>
    <p:sldId id="446" r:id="rId20"/>
    <p:sldId id="447" r:id="rId21"/>
    <p:sldId id="448" r:id="rId22"/>
    <p:sldId id="450" r:id="rId23"/>
    <p:sldId id="449" r:id="rId24"/>
    <p:sldId id="451" r:id="rId25"/>
    <p:sldId id="453" r:id="rId26"/>
    <p:sldId id="272" r:id="rId2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8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045A5-049B-4789-BE49-C75D8C936797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04B8B-0ADA-43E3-95A8-299093CE71F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431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4B8F87-CA03-8599-70CB-6CB9B88EB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C38049E-7F86-248F-D6FC-E717BC30F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A2E2C9-940E-2FD7-2BCB-66654124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DA389-C66B-4A8A-82D1-A5EACDBC6209}" type="datetime1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4CE792-BD6E-50B5-F2D6-B025620E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A51998F-CA20-8E7D-90EF-6752D058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165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95B8D2-9B5E-266E-A442-0C88EAE8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75B59B-F832-C75F-3C41-1EF0C9AE0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6F2EC0-8228-9016-01C3-B2DC123C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18E1-9344-4C31-882C-9738228B5497}" type="datetime1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479F76-F78C-3A7D-79F0-36C9FBBE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9F0D6D-C623-253C-B6F8-F5B14744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2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925B71-C462-46CE-BC80-E396ABFE8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6FC2D32-66B8-1060-6AEC-8D9BB30F9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781FE1-0280-00B8-15F2-F70B336B5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B7D3-32B3-42CF-9130-4FAF53EE5051}" type="datetime1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4A7771-7292-03F4-AC25-B700E4A8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6258EC-7405-FE8E-DE7A-82884344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22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C0CCBA-964B-394B-98E9-35A63CB28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BF89DA-CBB9-33A2-7DCE-F97A05687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84267A0-5C9B-C542-4C1A-C36680366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514983A-4401-B069-74B4-7100A5DE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0AA6-1367-4ABF-B259-D5F90A0DB242}" type="datetime1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C2DE439-D838-7FAF-6795-CC8BBF4A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04FAEF4-B348-9DBE-B770-D4870FF6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774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9CB71E-8ED9-DE5A-BDE4-912E8207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EB63C21-756A-EFDD-86DD-F51C14D26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9E9A32A-B62E-EA20-8C42-16E1A252B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F9082291-FD74-B10C-771A-F0E560F5B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8A600300-1AE5-10E6-7584-37F9B9EFD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9750E59-3BFB-B0E3-6835-F49C0A09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19EE-8A88-4BD0-A556-DE8EE4118E44}" type="datetime1">
              <a:rPr lang="hu-HU" smtClean="0"/>
              <a:t>2025. 11. 02.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FB6CAC49-0CCF-1DC6-FD9B-C785215A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EDA9D38-F741-2564-F7E8-1ED2A15C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152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376130-4ACA-B773-AEF6-0E76F706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FE3357C-964D-4B89-ED09-D03F7930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6F50-66D3-49CD-9441-3C97574251A3}" type="datetime1">
              <a:rPr lang="hu-HU" smtClean="0"/>
              <a:t>2025. 11. 02.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79EE829-8195-F8C8-4BF8-0F145751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E873E1F-D7D3-4C63-C213-C582C481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4707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B47E73B-41C9-CBF5-A96A-F2229B5A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7723D-7BE4-4C0E-9D65-7714A39E2460}" type="datetime1">
              <a:rPr lang="hu-HU" smtClean="0"/>
              <a:t>2025. 11. 02.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1BAB9F5-D8BC-6FCE-FA2F-286B242C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EAFBE0F-9EF9-6BB9-736D-3BA1F952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537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ECBA29-C329-D473-E6C3-4C7F1294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6C59E36-08C3-7699-3F4C-00FC6B35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0A8E7A4-C9E6-303A-CFD0-8D7752FF1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030EC3-8C40-D733-98DF-82298CC0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A1B8C-75E3-473B-A908-29268EA1BDAC}" type="datetime1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A6D8E8-25AA-FCC1-24EB-9BB9EEDD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13AD1FA-57B8-3EB8-52CC-20712CE1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601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977E1F-4354-7173-BAF3-9C6914DC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685192B-2BFF-99F0-E4F9-4AC6292F9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87E273D-3A90-C3CF-7634-21329106B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039AA39-92D2-1059-2B56-AC11F289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B57C-5AAE-4CCD-9603-B73C2AF3B15B}" type="datetime1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B00B883-96CD-85D1-4096-4E808D35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306C5BE-3AD0-316E-79D5-D5A92144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903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3110DB-B9E5-B48B-5F7C-219161F4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7E0359C-2A2F-CE0C-97EA-F891B5B95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2B0744-7828-8E9F-5A2B-10840C0F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AE1A-3D9D-46E0-BC5D-D9BDB2FACE36}" type="datetime1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9C4EC4-39FF-9843-3785-54F2CBD7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C18ABBA-06B0-BD09-46F1-0ACDB690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578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9C2F8B8-6081-7F03-2F27-793FAC957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BEB6E7C-53CC-5A31-19D5-C12ABB908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C20D2E-A1EA-05E2-B472-86E6842A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9F367-17E6-4856-B2D1-72FD0ED50B25}" type="datetime1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887DBA-0405-F65A-DB5A-0A894BA1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42209A9-54C1-96B2-F67C-9CAA29D9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939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685CE14-34D4-A133-B044-005F269EC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208165-E2A6-8386-CDD9-E458DB402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6EE347-974A-6D24-3FC8-A3A317AA8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E7B29-8338-4C71-B82F-C9F0E7856020}" type="datetime1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4B52685-3823-0811-20A3-3C3B12F85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C58795-01BF-0BC6-868F-1E94C83C4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C6B40-9665-4BAE-B750-5A40CB7321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805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92E04C-0CD0-A269-5A3C-1511881AC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772"/>
            <a:ext cx="9144000" cy="957514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sz="5600" b="1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Előadás - </a:t>
            </a:r>
            <a:r>
              <a:rPr lang="hu-H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kurzus</a:t>
            </a:r>
            <a:endParaRPr lang="hu-H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2871FA1-6D34-6A91-4196-5E8F1EAA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625" y="5551714"/>
            <a:ext cx="11260667" cy="70950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hu-H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Tárgyfelelős:</a:t>
            </a:r>
            <a:r>
              <a:rPr lang="hu-H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</a:t>
            </a:r>
            <a:r>
              <a:rPr lang="hu-H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Előadó:</a:t>
            </a:r>
          </a:p>
          <a:p>
            <a:pPr algn="l"/>
            <a:r>
              <a:rPr lang="hu-H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Tejfel Máté                        Dr. Király Roland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315A9097-21BF-AE69-4702-245B8A7049AE}"/>
              </a:ext>
            </a:extLst>
          </p:cNvPr>
          <p:cNvPicPr/>
          <p:nvPr/>
        </p:nvPicPr>
        <p:blipFill>
          <a:blip r:embed="rId2" cstate="print"/>
          <a:srcRect b="34442"/>
          <a:stretch/>
        </p:blipFill>
        <p:spPr>
          <a:xfrm>
            <a:off x="559625" y="354643"/>
            <a:ext cx="1018328" cy="951643"/>
          </a:xfrm>
          <a:prstGeom prst="rect">
            <a:avLst/>
          </a:prstGeom>
        </p:spPr>
      </p:pic>
      <p:pic>
        <p:nvPicPr>
          <p:cNvPr id="5" name="Kép 4" descr="Egy embléma közelképe&#10;&#10;Automatikusan létrehozott leírás">
            <a:extLst>
              <a:ext uri="{FF2B5EF4-FFF2-40B4-BE49-F238E27FC236}">
                <a16:creationId xmlns:a16="http://schemas.microsoft.com/office/drawing/2014/main" id="{EC5C36C1-541E-63A3-FD93-00F5752B6D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9624" y="17737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33FA03-0BBE-8A15-D902-B25EF4A0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55" y="506639"/>
            <a:ext cx="11668835" cy="1768475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800"/>
              </a:spcAft>
            </a:pPr>
            <a:r>
              <a:rPr lang="hu-HU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8. Előadás tematikája</a:t>
            </a:r>
            <a:br>
              <a:rPr lang="hu-HU" sz="4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4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Adatkezelés, fájlműveletek, kép és „mozgókép” kezelés</a:t>
            </a:r>
            <a:endParaRPr lang="hu-HU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D05C02F-0D97-C222-9A80-998750A28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72" y="2475696"/>
            <a:ext cx="10178143" cy="3875665"/>
          </a:xfrm>
        </p:spPr>
        <p:txBody>
          <a:bodyPr>
            <a:noAutofit/>
          </a:bodyPr>
          <a:lstStyle/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Fájlok megnyitása, olvasása, írása (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Fájlműveletek hibakezelése,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enter/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és egyéb fájl formátumok formátum bevezetése és feldolgozása Pythonban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Képek feldolgozása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csomaggal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feldolgozása,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skeleton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8E6453C-C041-0B8F-FF35-14E1A5D3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z="1500" b="1" smtClean="0"/>
              <a:pPr/>
              <a:t>2</a:t>
            </a:fld>
            <a:endParaRPr lang="hu-HU" sz="1500" b="1" dirty="0"/>
          </a:p>
        </p:txBody>
      </p:sp>
    </p:spTree>
    <p:extLst>
      <p:ext uri="{BB962C8B-B14F-4D97-AF65-F5344CB8AC3E}">
        <p14:creationId xmlns:p14="http://schemas.microsoft.com/office/powerpoint/2010/main" val="337362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E454-4934-9B0D-4B8C-A293EB72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7DF1B7-AE22-0A28-A67E-4273C7B2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2264"/>
            <a:ext cx="10515600" cy="618040"/>
          </a:xfrm>
        </p:spPr>
        <p:txBody>
          <a:bodyPr>
            <a:normAutofit/>
          </a:bodyPr>
          <a:lstStyle/>
          <a:p>
            <a:pPr algn="ctr"/>
            <a:r>
              <a:rPr lang="hu-H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hu-HU" sz="3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Fájlok megnyitása, olvasása, írása (</a:t>
            </a:r>
            <a:r>
              <a:rPr lang="hu-HU" sz="36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hu-HU" sz="3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36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hu-HU" sz="3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36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hu-HU" sz="3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hu-H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B7DC9F7-1427-EA76-3C03-EC666B3F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3</a:t>
            </a:fld>
            <a:endParaRPr lang="hu-HU"/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A9B749F9-2151-A597-74B3-0EBD38D91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154" y="1100698"/>
            <a:ext cx="10733689" cy="3519073"/>
          </a:xfrm>
        </p:spPr>
        <p:txBody>
          <a:bodyPr/>
          <a:lstStyle/>
          <a:p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Pythonban a fájlok megnyitása és kezelése a beépített </a:t>
            </a:r>
            <a:r>
              <a:rPr lang="hu-HU" sz="2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open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függvénnyel</a:t>
            </a:r>
          </a:p>
          <a:p>
            <a:r>
              <a:rPr lang="hu-HU" sz="26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ülönböző formátumú fájlokat olvashatunk és írhatunk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3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2.1.</a:t>
            </a:r>
            <a:r>
              <a:rPr lang="hu-HU" sz="3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Text (TXT) fájlok kezelése</a:t>
            </a:r>
            <a:endParaRPr lang="hu-HU" sz="3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szöveges fájlok szöveges adatokat tárolnak, például naplófájlokat vagy beállítási adatokat. Pythonban a </a:t>
            </a:r>
            <a:r>
              <a:rPr lang="hu-HU" sz="2600" b="1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sz="26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600" b="1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hu-HU" sz="26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hu-HU" sz="2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szerkezetet használjuk a fájl megnyitására és kezelésére.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TXT fájl megnyitása és olvasása: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849B1CC-56D7-EBCE-7367-B1007F9530C2}"/>
              </a:ext>
            </a:extLst>
          </p:cNvPr>
          <p:cNvSpPr txBox="1"/>
          <p:nvPr/>
        </p:nvSpPr>
        <p:spPr>
          <a:xfrm>
            <a:off x="1403129" y="4708636"/>
            <a:ext cx="4724400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 dirty="0"/>
              <a:t># TXT fájl megnyitása olvasásra</a:t>
            </a:r>
          </a:p>
          <a:p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("adatok.txt", "r") </a:t>
            </a:r>
            <a:r>
              <a:rPr lang="hu-HU" sz="2200" b="1" dirty="0" err="1"/>
              <a:t>as</a:t>
            </a:r>
            <a:r>
              <a:rPr lang="hu-HU" sz="2200" b="1" dirty="0"/>
              <a:t> file:</a:t>
            </a:r>
          </a:p>
          <a:p>
            <a:r>
              <a:rPr lang="hu-HU" sz="2200" b="1" dirty="0"/>
              <a:t>    tartalom = </a:t>
            </a:r>
            <a:r>
              <a:rPr lang="hu-HU" sz="2200" b="1" dirty="0" err="1"/>
              <a:t>file.read</a:t>
            </a:r>
            <a:r>
              <a:rPr lang="hu-HU" sz="2200" b="1" dirty="0"/>
              <a:t>()</a:t>
            </a:r>
          </a:p>
          <a:p>
            <a:r>
              <a:rPr lang="hu-HU" sz="2200" b="1" dirty="0"/>
              <a:t>    print(tartalom)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51947D5C-FC9A-31A7-E3ED-4148ADC58AF3}"/>
              </a:ext>
            </a:extLst>
          </p:cNvPr>
          <p:cNvSpPr txBox="1"/>
          <p:nvPr/>
        </p:nvSpPr>
        <p:spPr>
          <a:xfrm>
            <a:off x="6501304" y="4492813"/>
            <a:ext cx="4961539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300" dirty="0">
                <a:latin typeface="Times New Roman"/>
              </a:rPr>
              <a:t>Itt az adatok.txt fájlt </a:t>
            </a:r>
            <a:r>
              <a:rPr lang="hu-HU" sz="2300" b="1" dirty="0">
                <a:latin typeface="Times New Roman"/>
              </a:rPr>
              <a:t>olvasási módban </a:t>
            </a:r>
            <a:r>
              <a:rPr lang="hu-HU" sz="2300" dirty="0">
                <a:latin typeface="Times New Roman"/>
              </a:rPr>
              <a:t>("r") nyitjuk meg. A </a:t>
            </a:r>
            <a:r>
              <a:rPr lang="hu-HU" sz="2300" b="1" dirty="0" err="1">
                <a:latin typeface="Times New Roman"/>
              </a:rPr>
              <a:t>file.read</a:t>
            </a:r>
            <a:r>
              <a:rPr lang="hu-HU" sz="2300" b="1" dirty="0">
                <a:latin typeface="Times New Roman"/>
              </a:rPr>
              <a:t>(</a:t>
            </a:r>
            <a:r>
              <a:rPr lang="hu-HU" sz="2300" dirty="0">
                <a:latin typeface="Times New Roman"/>
              </a:rPr>
              <a:t>) utasítás a teljes fájl tartalmát beolvassa és eltárolja a </a:t>
            </a:r>
            <a:r>
              <a:rPr lang="hu-HU" sz="2300" b="1" dirty="0">
                <a:latin typeface="Times New Roman"/>
              </a:rPr>
              <a:t>tartalom</a:t>
            </a:r>
            <a:r>
              <a:rPr lang="hu-HU" sz="2300" dirty="0">
                <a:latin typeface="Times New Roman"/>
              </a:rPr>
              <a:t> változóban, amelyet a program végül kiír a képernyőre.</a:t>
            </a:r>
          </a:p>
        </p:txBody>
      </p:sp>
    </p:spTree>
    <p:extLst>
      <p:ext uri="{BB962C8B-B14F-4D97-AF65-F5344CB8AC3E}">
        <p14:creationId xmlns:p14="http://schemas.microsoft.com/office/powerpoint/2010/main" val="153492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612337"/>
          </a:xfrm>
        </p:spPr>
        <p:txBody>
          <a:bodyPr>
            <a:normAutofit/>
          </a:bodyPr>
          <a:lstStyle/>
          <a:p>
            <a:r>
              <a:rPr lang="hu-HU" sz="26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sz="2600" b="1" dirty="0">
                <a:latin typeface="Times New Roman"/>
              </a:rPr>
              <a:t>TXT </a:t>
            </a:r>
            <a:r>
              <a:rPr sz="2600" b="1" dirty="0" err="1">
                <a:latin typeface="Times New Roman"/>
              </a:rPr>
              <a:t>fájl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soronkénti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olvasása</a:t>
            </a:r>
            <a:endParaRPr sz="26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66891"/>
            <a:ext cx="10515600" cy="1446551"/>
          </a:xfrm>
        </p:spPr>
        <p:txBody>
          <a:bodyPr/>
          <a:lstStyle/>
          <a:p>
            <a:pPr marL="0" indent="0">
              <a:buNone/>
            </a:pPr>
            <a:r>
              <a:rPr lang="hu-HU" sz="2600">
                <a:latin typeface="Times New Roman"/>
              </a:rPr>
              <a:t>Nagyobb fájlok esetén hasznos lehet a fájlt soronként olvasni, különösen akkor, ha egyszerre nem akarjuk a teljes tartalmat betölteni.</a:t>
            </a:r>
          </a:p>
          <a:p>
            <a:endParaRPr lang="hu-HU" sz="2000" dirty="0">
              <a:latin typeface="Times New Roman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0819776-1BEC-40F5-43D7-EA75DE8D8626}"/>
              </a:ext>
            </a:extLst>
          </p:cNvPr>
          <p:cNvSpPr txBox="1"/>
          <p:nvPr/>
        </p:nvSpPr>
        <p:spPr>
          <a:xfrm>
            <a:off x="1923393" y="977462"/>
            <a:ext cx="8671034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 dirty="0"/>
              <a:t># TXT fájl </a:t>
            </a:r>
            <a:r>
              <a:rPr lang="hu-HU" sz="2200" b="1" dirty="0" err="1"/>
              <a:t>soronkénti</a:t>
            </a:r>
            <a:r>
              <a:rPr lang="hu-HU" sz="2200" b="1" dirty="0"/>
              <a:t> olvasása</a:t>
            </a:r>
          </a:p>
          <a:p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("adatok.txt", "r") </a:t>
            </a:r>
            <a:r>
              <a:rPr lang="hu-HU" sz="2200" b="1" dirty="0" err="1"/>
              <a:t>as</a:t>
            </a:r>
            <a:r>
              <a:rPr lang="hu-HU" sz="2200" b="1" dirty="0"/>
              <a:t> file: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for</a:t>
            </a:r>
            <a:r>
              <a:rPr lang="hu-HU" sz="2200" b="1" dirty="0"/>
              <a:t> sor in file:</a:t>
            </a:r>
          </a:p>
          <a:p>
            <a:r>
              <a:rPr lang="hu-HU" sz="2200" b="1" dirty="0"/>
              <a:t>        print(</a:t>
            </a:r>
            <a:r>
              <a:rPr lang="hu-HU" sz="2200" b="1" dirty="0" err="1"/>
              <a:t>sor.strip</a:t>
            </a:r>
            <a:r>
              <a:rPr lang="hu-HU" sz="2200" b="1" dirty="0"/>
              <a:t>())  # A </a:t>
            </a:r>
            <a:r>
              <a:rPr lang="hu-HU" sz="2200" b="1" dirty="0" err="1"/>
              <a:t>strip</a:t>
            </a:r>
            <a:r>
              <a:rPr lang="hu-HU" sz="2200" b="1" dirty="0"/>
              <a:t>() eltávolítja a felesleges sortöréseket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727026A0-1038-5CB5-8424-42A52C6A7824}"/>
              </a:ext>
            </a:extLst>
          </p:cNvPr>
          <p:cNvSpPr txBox="1"/>
          <p:nvPr/>
        </p:nvSpPr>
        <p:spPr>
          <a:xfrm>
            <a:off x="838200" y="3603040"/>
            <a:ext cx="311106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600" b="1" dirty="0">
                <a:latin typeface="Times New Roman"/>
                <a:ea typeface="+mj-ea"/>
                <a:cs typeface="+mj-cs"/>
              </a:rPr>
              <a:t>c) TXT fájl írása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BB6D3333-1FC1-A448-D2CC-259100DAB492}"/>
              </a:ext>
            </a:extLst>
          </p:cNvPr>
          <p:cNvSpPr txBox="1"/>
          <p:nvPr/>
        </p:nvSpPr>
        <p:spPr>
          <a:xfrm>
            <a:off x="3773214" y="3633046"/>
            <a:ext cx="6096000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 dirty="0"/>
              <a:t># TXT fájl megnyitása írásra</a:t>
            </a:r>
          </a:p>
          <a:p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("kimenet.txt", "w") </a:t>
            </a:r>
            <a:r>
              <a:rPr lang="hu-HU" sz="2200" b="1" dirty="0" err="1"/>
              <a:t>as</a:t>
            </a:r>
            <a:r>
              <a:rPr lang="hu-HU" sz="2200" b="1" dirty="0"/>
              <a:t> file: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file.write</a:t>
            </a:r>
            <a:r>
              <a:rPr lang="hu-HU" sz="2200" b="1" dirty="0"/>
              <a:t>("Ez az első sor.\n")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file.write</a:t>
            </a:r>
            <a:r>
              <a:rPr lang="hu-HU" sz="2200" b="1" dirty="0"/>
              <a:t>("Ez pedig a második sor.\n")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D135B353-DB58-8865-FE80-E27AC562425D}"/>
              </a:ext>
            </a:extLst>
          </p:cNvPr>
          <p:cNvSpPr txBox="1"/>
          <p:nvPr/>
        </p:nvSpPr>
        <p:spPr>
          <a:xfrm>
            <a:off x="838200" y="5213639"/>
            <a:ext cx="10515600" cy="117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hu-HU" sz="2600" dirty="0">
                <a:latin typeface="Times New Roman"/>
              </a:rPr>
              <a:t>Ebben a példában a kimenet.txt fájlt </a:t>
            </a:r>
            <a:r>
              <a:rPr lang="hu-HU" sz="2600" b="1" dirty="0">
                <a:latin typeface="Times New Roman"/>
              </a:rPr>
              <a:t>írási módban </a:t>
            </a:r>
            <a:r>
              <a:rPr lang="hu-HU" sz="2600" dirty="0">
                <a:latin typeface="Times New Roman"/>
              </a:rPr>
              <a:t>("w") nyitjuk meg. A </a:t>
            </a:r>
            <a:r>
              <a:rPr lang="hu-HU" sz="2600" b="1" dirty="0" err="1">
                <a:latin typeface="Times New Roman"/>
              </a:rPr>
              <a:t>file.write</a:t>
            </a:r>
            <a:r>
              <a:rPr lang="hu-HU" sz="2600" b="1" dirty="0">
                <a:latin typeface="Times New Roman"/>
              </a:rPr>
              <a:t>() </a:t>
            </a:r>
            <a:r>
              <a:rPr lang="hu-HU" sz="2600" dirty="0">
                <a:latin typeface="Times New Roman"/>
              </a:rPr>
              <a:t>függvénnyel sorokat írunk a fájlba. Ha a fájl már létezik, annak tartalma </a:t>
            </a:r>
            <a:r>
              <a:rPr lang="hu-HU" sz="2600" b="1" dirty="0">
                <a:latin typeface="Times New Roman"/>
              </a:rPr>
              <a:t>felülíródik</a:t>
            </a:r>
            <a:r>
              <a:rPr lang="hu-HU" sz="2600" dirty="0">
                <a:latin typeface="Times New Roman"/>
              </a:rPr>
              <a:t>.</a:t>
            </a:r>
          </a:p>
        </p:txBody>
      </p:sp>
      <p:sp>
        <p:nvSpPr>
          <p:cNvPr id="16" name="Dia számának helye 15">
            <a:extLst>
              <a:ext uri="{FF2B5EF4-FFF2-40B4-BE49-F238E27FC236}">
                <a16:creationId xmlns:a16="http://schemas.microsoft.com/office/drawing/2014/main" id="{012C0D09-3710-B8B8-2154-A00DBED0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4</a:t>
            </a:fld>
            <a:endParaRPr lang="hu-H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648" y="399222"/>
            <a:ext cx="6687207" cy="685909"/>
          </a:xfrm>
        </p:spPr>
        <p:txBody>
          <a:bodyPr>
            <a:normAutofit/>
          </a:bodyPr>
          <a:lstStyle/>
          <a:p>
            <a:r>
              <a:rPr lang="hu-HU" sz="2600" b="1" dirty="0">
                <a:latin typeface="Times New Roman"/>
              </a:rPr>
              <a:t>d) </a:t>
            </a:r>
            <a:r>
              <a:rPr sz="2600" b="1" dirty="0" err="1">
                <a:latin typeface="Times New Roman"/>
              </a:rPr>
              <a:t>Adatok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hozzáfűzése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meglévő</a:t>
            </a:r>
            <a:r>
              <a:rPr sz="2600" b="1" dirty="0">
                <a:latin typeface="Times New Roman"/>
              </a:rPr>
              <a:t> TXT </a:t>
            </a:r>
            <a:r>
              <a:rPr sz="2600" b="1" dirty="0" err="1">
                <a:latin typeface="Times New Roman"/>
              </a:rPr>
              <a:t>fájlhoz</a:t>
            </a:r>
            <a:endParaRPr sz="26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427" y="2811544"/>
            <a:ext cx="10284373" cy="1234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600" dirty="0">
                <a:latin typeface="Times New Roman"/>
              </a:rPr>
              <a:t>A with open() </a:t>
            </a:r>
            <a:r>
              <a:rPr sz="2600" dirty="0" err="1">
                <a:latin typeface="Times New Roman"/>
              </a:rPr>
              <a:t>szerkezet</a:t>
            </a:r>
            <a:r>
              <a:rPr sz="2600" dirty="0">
                <a:latin typeface="Times New Roman"/>
              </a:rPr>
              <a:t> </a:t>
            </a:r>
            <a:r>
              <a:rPr sz="2600" b="1" dirty="0">
                <a:latin typeface="Times New Roman"/>
              </a:rPr>
              <a:t>append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módban</a:t>
            </a:r>
            <a:r>
              <a:rPr sz="2600" dirty="0">
                <a:latin typeface="Times New Roman"/>
              </a:rPr>
              <a:t> ("a") </a:t>
            </a:r>
            <a:r>
              <a:rPr sz="2600" dirty="0" err="1">
                <a:latin typeface="Times New Roman"/>
              </a:rPr>
              <a:t>történő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használatával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új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sorokat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fűzhetünk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hozzá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egy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már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meglévő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fájlhoz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anélkül</a:t>
            </a:r>
            <a:r>
              <a:rPr sz="2600" dirty="0">
                <a:latin typeface="Times New Roman"/>
              </a:rPr>
              <a:t>, </a:t>
            </a:r>
            <a:r>
              <a:rPr sz="2600" dirty="0" err="1">
                <a:latin typeface="Times New Roman"/>
              </a:rPr>
              <a:t>hogy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felülírnánk</a:t>
            </a:r>
            <a:r>
              <a:rPr sz="2600" dirty="0">
                <a:latin typeface="Times New Roman"/>
              </a:rPr>
              <a:t> a </a:t>
            </a:r>
            <a:r>
              <a:rPr sz="2600" dirty="0" err="1">
                <a:latin typeface="Times New Roman"/>
              </a:rPr>
              <a:t>tartalmát</a:t>
            </a:r>
            <a:r>
              <a:rPr sz="2600" dirty="0">
                <a:latin typeface="Times New Roman"/>
              </a:rPr>
              <a:t>.</a:t>
            </a:r>
          </a:p>
          <a:p>
            <a:endParaRPr sz="2600" dirty="0">
              <a:latin typeface="Times New Roman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2211AAE-859A-02D9-73C0-82F1017D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5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D01C01D-E336-304E-4A83-FC927DE8E193}"/>
              </a:ext>
            </a:extLst>
          </p:cNvPr>
          <p:cNvSpPr txBox="1"/>
          <p:nvPr/>
        </p:nvSpPr>
        <p:spPr>
          <a:xfrm>
            <a:off x="1807780" y="1262142"/>
            <a:ext cx="6802820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 dirty="0"/>
              <a:t># TXT fájl megnyitása hozzáfűzésre</a:t>
            </a:r>
          </a:p>
          <a:p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("kimenet.txt", "a") </a:t>
            </a:r>
            <a:r>
              <a:rPr lang="hu-HU" sz="2200" b="1" dirty="0" err="1"/>
              <a:t>as</a:t>
            </a:r>
            <a:r>
              <a:rPr lang="hu-HU" sz="2200" b="1" dirty="0"/>
              <a:t> file: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file.write</a:t>
            </a:r>
            <a:r>
              <a:rPr lang="hu-HU" sz="2200" b="1" dirty="0"/>
              <a:t>("Ez egy új sor, amit hozzáadunk.\n")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file.write</a:t>
            </a:r>
            <a:r>
              <a:rPr lang="hu-HU" sz="2200" b="1" dirty="0"/>
              <a:t>("Ez egy újabb sor, amit hozzáadunk.\n")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8A96890-C606-4595-7A0B-E50748234029}"/>
              </a:ext>
            </a:extLst>
          </p:cNvPr>
          <p:cNvSpPr txBox="1"/>
          <p:nvPr/>
        </p:nvSpPr>
        <p:spPr>
          <a:xfrm>
            <a:off x="1069427" y="4149307"/>
            <a:ext cx="4445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u-H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2.2. CSV fájl kezelése</a:t>
            </a:r>
            <a:endParaRPr lang="hu-HU" b="1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C3B735F-AA36-EE83-2164-1479829192AD}"/>
              </a:ext>
            </a:extLst>
          </p:cNvPr>
          <p:cNvSpPr txBox="1"/>
          <p:nvPr/>
        </p:nvSpPr>
        <p:spPr>
          <a:xfrm>
            <a:off x="1028699" y="4734082"/>
            <a:ext cx="10648294" cy="153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CSV (</a:t>
            </a:r>
            <a:r>
              <a:rPr lang="hu-H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Comma-Separated</a:t>
            </a:r>
            <a:r>
              <a:rPr lang="hu-H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fájlok olyan táblázatos adatokat tárolnak, amelyek mezőit vesszővel választjuk el egymástól. Pythonban a beépített </a:t>
            </a:r>
            <a:r>
              <a:rPr lang="hu-H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 segítségével könnyen olvashatunk és írhatunk CSV fájlokat.</a:t>
            </a:r>
          </a:p>
          <a:p>
            <a:pPr>
              <a:lnSpc>
                <a:spcPct val="90000"/>
              </a:lnSpc>
            </a:pP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CSV fájlok kezeléséhez szükség van a </a:t>
            </a:r>
            <a:r>
              <a:rPr lang="hu-H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hu-H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 importálására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523593" cy="633358"/>
          </a:xfrm>
        </p:spPr>
        <p:txBody>
          <a:bodyPr>
            <a:normAutofit/>
          </a:bodyPr>
          <a:lstStyle/>
          <a:p>
            <a:r>
              <a:rPr lang="hu-HU" sz="2600" b="1" dirty="0">
                <a:latin typeface="Times New Roman"/>
              </a:rPr>
              <a:t>a) </a:t>
            </a:r>
            <a:r>
              <a:rPr sz="2600" b="1" dirty="0">
                <a:latin typeface="Times New Roman"/>
              </a:rPr>
              <a:t>CSV </a:t>
            </a:r>
            <a:r>
              <a:rPr sz="2600" b="1" dirty="0" err="1">
                <a:latin typeface="Times New Roman"/>
              </a:rPr>
              <a:t>fájl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olvasása</a:t>
            </a:r>
            <a:endParaRPr sz="26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5904" y="943431"/>
            <a:ext cx="4981903" cy="1977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600" dirty="0" err="1">
                <a:latin typeface="Times New Roman"/>
              </a:rPr>
              <a:t>Itt</a:t>
            </a:r>
            <a:r>
              <a:rPr sz="2600" dirty="0">
                <a:latin typeface="Times New Roman"/>
              </a:rPr>
              <a:t> a </a:t>
            </a:r>
            <a:r>
              <a:rPr sz="2600" b="1" dirty="0" err="1">
                <a:latin typeface="Times New Roman"/>
              </a:rPr>
              <a:t>csv.reader</a:t>
            </a:r>
            <a:r>
              <a:rPr sz="2600" b="1" dirty="0">
                <a:latin typeface="Times New Roman"/>
              </a:rPr>
              <a:t>(f</a:t>
            </a:r>
            <a:r>
              <a:rPr lang="hu-HU" sz="2600" b="1" dirty="0" err="1">
                <a:latin typeface="Times New Roman"/>
              </a:rPr>
              <a:t>ile</a:t>
            </a:r>
            <a:r>
              <a:rPr sz="2600" b="1" dirty="0">
                <a:latin typeface="Times New Roman"/>
              </a:rPr>
              <a:t>) </a:t>
            </a:r>
            <a:r>
              <a:rPr sz="2600" dirty="0" err="1">
                <a:latin typeface="Times New Roman"/>
              </a:rPr>
              <a:t>objektum</a:t>
            </a:r>
            <a:r>
              <a:rPr sz="2600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minden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sorát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listaként</a:t>
            </a:r>
            <a:r>
              <a:rPr sz="2600" b="1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adja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vissza</a:t>
            </a:r>
            <a:r>
              <a:rPr sz="2600" dirty="0">
                <a:latin typeface="Times New Roman"/>
              </a:rPr>
              <a:t>. A </a:t>
            </a:r>
            <a:r>
              <a:rPr sz="2600" b="1" dirty="0">
                <a:latin typeface="Times New Roman"/>
              </a:rPr>
              <a:t>for </a:t>
            </a:r>
            <a:r>
              <a:rPr lang="hu-HU" sz="2600" b="1" dirty="0">
                <a:latin typeface="Times New Roman"/>
              </a:rPr>
              <a:t>line</a:t>
            </a:r>
            <a:r>
              <a:rPr sz="2600" b="1" dirty="0">
                <a:latin typeface="Times New Roman"/>
              </a:rPr>
              <a:t> in </a:t>
            </a:r>
            <a:r>
              <a:rPr lang="hu-HU" sz="2600" b="1" dirty="0" err="1">
                <a:latin typeface="Times New Roman"/>
              </a:rPr>
              <a:t>reader</a:t>
            </a:r>
            <a:r>
              <a:rPr sz="2600" b="1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ciklus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segítségével</a:t>
            </a:r>
            <a:r>
              <a:rPr sz="2600" dirty="0">
                <a:latin typeface="Times New Roman"/>
              </a:rPr>
              <a:t> a </a:t>
            </a:r>
            <a:r>
              <a:rPr sz="2600" dirty="0" err="1">
                <a:latin typeface="Times New Roman"/>
              </a:rPr>
              <a:t>fájl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összes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sorát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feldolgozzuk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és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megjelenítjük</a:t>
            </a:r>
            <a:r>
              <a:rPr sz="2600" dirty="0">
                <a:latin typeface="Times New Roman"/>
              </a:rPr>
              <a:t>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007972A-B456-5B6C-3086-34DD7BC3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6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2115B07-4C8F-BECA-5FAA-DE89A6ACBDAF}"/>
              </a:ext>
            </a:extLst>
          </p:cNvPr>
          <p:cNvSpPr txBox="1"/>
          <p:nvPr/>
        </p:nvSpPr>
        <p:spPr>
          <a:xfrm>
            <a:off x="1487216" y="998484"/>
            <a:ext cx="4645573" cy="19225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hu-HU" sz="2200" b="1" dirty="0"/>
              <a:t>import </a:t>
            </a:r>
            <a:r>
              <a:rPr lang="hu-HU" sz="2200" b="1" dirty="0" err="1"/>
              <a:t>csv</a:t>
            </a:r>
            <a:endParaRPr lang="hu-HU" sz="2200" b="1" dirty="0"/>
          </a:p>
          <a:p>
            <a:pPr marL="0" indent="0">
              <a:lnSpc>
                <a:spcPct val="90000"/>
              </a:lnSpc>
              <a:buNone/>
            </a:pPr>
            <a:endParaRPr lang="hu-HU" sz="2200" b="1" dirty="0"/>
          </a:p>
          <a:p>
            <a:pPr marL="0" indent="0">
              <a:lnSpc>
                <a:spcPct val="90000"/>
              </a:lnSpc>
              <a:buNone/>
            </a:pPr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("adatok.csv", "r") </a:t>
            </a:r>
            <a:r>
              <a:rPr lang="hu-HU" sz="2200" b="1" dirty="0" err="1"/>
              <a:t>as</a:t>
            </a:r>
            <a:r>
              <a:rPr lang="hu-HU" sz="2200" b="1" dirty="0"/>
              <a:t> file: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u-HU" sz="2200" b="1" dirty="0"/>
              <a:t>    </a:t>
            </a:r>
            <a:r>
              <a:rPr lang="hu-HU" sz="2200" b="1" dirty="0" err="1"/>
              <a:t>reader</a:t>
            </a:r>
            <a:r>
              <a:rPr lang="hu-HU" sz="2200" b="1" dirty="0"/>
              <a:t> = </a:t>
            </a:r>
            <a:r>
              <a:rPr lang="hu-HU" sz="2200" b="1" dirty="0" err="1"/>
              <a:t>csv.reader</a:t>
            </a:r>
            <a:r>
              <a:rPr lang="hu-HU" sz="2200" b="1" dirty="0"/>
              <a:t>(file)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u-HU" sz="2200" b="1" dirty="0"/>
              <a:t>    </a:t>
            </a:r>
            <a:r>
              <a:rPr lang="hu-HU" sz="2200" b="1" dirty="0" err="1"/>
              <a:t>for</a:t>
            </a:r>
            <a:r>
              <a:rPr lang="hu-HU" sz="2200" b="1" dirty="0"/>
              <a:t> line in </a:t>
            </a:r>
            <a:r>
              <a:rPr lang="hu-HU" sz="2200" b="1" dirty="0" err="1"/>
              <a:t>reader</a:t>
            </a:r>
            <a:r>
              <a:rPr lang="hu-HU" sz="2200" b="1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hu-HU" sz="2200" b="1" dirty="0"/>
              <a:t>        print(line)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191CFDA-4CEE-5DC6-3024-158F5E99C45E}"/>
              </a:ext>
            </a:extLst>
          </p:cNvPr>
          <p:cNvSpPr txBox="1"/>
          <p:nvPr/>
        </p:nvSpPr>
        <p:spPr>
          <a:xfrm>
            <a:off x="955127" y="3283829"/>
            <a:ext cx="328973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600" b="1" dirty="0">
                <a:latin typeface="Times New Roman"/>
                <a:ea typeface="+mj-ea"/>
                <a:cs typeface="+mj-cs"/>
              </a:rPr>
              <a:t>b) CSV fájl írása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182DD14A-5FD5-EA89-D3C4-450FDF7F3934}"/>
              </a:ext>
            </a:extLst>
          </p:cNvPr>
          <p:cNvSpPr txBox="1"/>
          <p:nvPr/>
        </p:nvSpPr>
        <p:spPr>
          <a:xfrm>
            <a:off x="5460124" y="3310291"/>
            <a:ext cx="6274676" cy="30820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hu-HU" sz="2200" b="1" dirty="0"/>
              <a:t>import </a:t>
            </a:r>
            <a:r>
              <a:rPr lang="hu-HU" sz="2200" b="1" dirty="0" err="1"/>
              <a:t>csv</a:t>
            </a:r>
            <a:endParaRPr lang="hu-HU" sz="2200" b="1" dirty="0"/>
          </a:p>
          <a:p>
            <a:pPr>
              <a:lnSpc>
                <a:spcPct val="80000"/>
              </a:lnSpc>
            </a:pPr>
            <a:r>
              <a:rPr lang="hu-HU" sz="2200" b="1" dirty="0"/>
              <a:t>adatok = [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    ["Név", "Kor", "Város"],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    ["Ann", 25, "Budapest"],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    ["Bell", 30, "Szeged"],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    ["</a:t>
            </a:r>
            <a:r>
              <a:rPr lang="hu-HU" sz="2200" b="1" dirty="0" err="1"/>
              <a:t>Yoda</a:t>
            </a:r>
            <a:r>
              <a:rPr lang="hu-HU" sz="2200" b="1" dirty="0"/>
              <a:t>", 28, ”</a:t>
            </a:r>
            <a:r>
              <a:rPr lang="hu-HU" sz="2200" b="1" dirty="0" err="1"/>
              <a:t>Dagoba</a:t>
            </a:r>
            <a:r>
              <a:rPr lang="hu-HU" sz="2200" b="1" dirty="0"/>
              <a:t>"]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]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# CSV fájl megnyitása írásra</a:t>
            </a:r>
          </a:p>
          <a:p>
            <a:pPr>
              <a:lnSpc>
                <a:spcPct val="80000"/>
              </a:lnSpc>
            </a:pPr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("kimenet.csv", "w", </a:t>
            </a:r>
            <a:r>
              <a:rPr lang="hu-HU" sz="2200" b="1" dirty="0" err="1"/>
              <a:t>newline</a:t>
            </a:r>
            <a:r>
              <a:rPr lang="hu-HU" sz="2200" b="1" dirty="0"/>
              <a:t>='') </a:t>
            </a:r>
            <a:r>
              <a:rPr lang="hu-HU" sz="2200" b="1" dirty="0" err="1"/>
              <a:t>as</a:t>
            </a:r>
            <a:r>
              <a:rPr lang="hu-HU" sz="2200" b="1" dirty="0"/>
              <a:t> file: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    </a:t>
            </a:r>
            <a:r>
              <a:rPr lang="hu-HU" sz="2200" b="1" dirty="0" err="1"/>
              <a:t>writer</a:t>
            </a:r>
            <a:r>
              <a:rPr lang="hu-HU" sz="2200" b="1" dirty="0"/>
              <a:t> = </a:t>
            </a:r>
            <a:r>
              <a:rPr lang="hu-HU" sz="2200" b="1" dirty="0" err="1"/>
              <a:t>csv.writer</a:t>
            </a:r>
            <a:r>
              <a:rPr lang="hu-HU" sz="2200" b="1" dirty="0"/>
              <a:t>(</a:t>
            </a:r>
            <a:r>
              <a:rPr lang="hu-HU" sz="2200" b="1" dirty="0" err="1"/>
              <a:t>fajl</a:t>
            </a:r>
            <a:r>
              <a:rPr lang="hu-HU" sz="2200" b="1" dirty="0"/>
              <a:t>)</a:t>
            </a:r>
          </a:p>
          <a:p>
            <a:pPr>
              <a:lnSpc>
                <a:spcPct val="80000"/>
              </a:lnSpc>
            </a:pPr>
            <a:r>
              <a:rPr lang="hu-HU" sz="2200" b="1" dirty="0"/>
              <a:t>    </a:t>
            </a:r>
            <a:r>
              <a:rPr lang="hu-HU" sz="2200" b="1" dirty="0" err="1"/>
              <a:t>writer.writerows</a:t>
            </a:r>
            <a:r>
              <a:rPr lang="hu-HU" sz="2200" b="1" dirty="0"/>
              <a:t>(adatok)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CB02A4DF-4A7A-6F61-26AC-1C4965247C92}"/>
              </a:ext>
            </a:extLst>
          </p:cNvPr>
          <p:cNvSpPr txBox="1"/>
          <p:nvPr/>
        </p:nvSpPr>
        <p:spPr>
          <a:xfrm>
            <a:off x="419997" y="3776272"/>
            <a:ext cx="4895385" cy="255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u-HU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csv.writer</a:t>
            </a:r>
            <a:r>
              <a:rPr kumimoji="0" lang="hu-HU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() </a:t>
            </a:r>
            <a:r>
              <a:rPr kumimoji="0" lang="hu-HU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objektum segítségével az adatok lista tartalmát a kimenet.csv fájlba írjuk. </a:t>
            </a:r>
            <a:br>
              <a:rPr kumimoji="0" lang="hu-HU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r>
              <a:rPr kumimoji="0" lang="hu-HU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Az </a:t>
            </a:r>
            <a:r>
              <a:rPr kumimoji="0" lang="hu-HU" sz="2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writerows</a:t>
            </a:r>
            <a:r>
              <a:rPr kumimoji="0" lang="hu-HU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() </a:t>
            </a:r>
            <a:r>
              <a:rPr kumimoji="0" lang="hu-HU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metódus minden listaelemet (egy-egy sort) a fájlba ír.</a:t>
            </a:r>
            <a:br>
              <a:rPr lang="hu-HU" sz="2500" dirty="0">
                <a:solidFill>
                  <a:prstClr val="black"/>
                </a:solidFill>
                <a:latin typeface="Times New Roman"/>
              </a:rPr>
            </a:br>
            <a:r>
              <a:rPr lang="hu-HU" sz="2500" dirty="0">
                <a:solidFill>
                  <a:prstClr val="black"/>
                </a:solidFill>
                <a:latin typeface="Times New Roman"/>
              </a:rPr>
              <a:t>A </a:t>
            </a:r>
            <a:r>
              <a:rPr lang="hu-HU" sz="2500" b="1" dirty="0" err="1">
                <a:solidFill>
                  <a:prstClr val="black"/>
                </a:solidFill>
                <a:latin typeface="Times New Roman"/>
              </a:rPr>
              <a:t>newline</a:t>
            </a:r>
            <a:r>
              <a:rPr lang="hu-HU" sz="2500" b="1" dirty="0">
                <a:solidFill>
                  <a:prstClr val="black"/>
                </a:solidFill>
                <a:latin typeface="Times New Roman"/>
              </a:rPr>
              <a:t>=</a:t>
            </a:r>
            <a:r>
              <a:rPr lang="hu-HU" sz="2800" b="1" dirty="0"/>
              <a:t>''</a:t>
            </a:r>
            <a:r>
              <a:rPr lang="hu-HU" sz="2500" b="1" dirty="0">
                <a:solidFill>
                  <a:prstClr val="black"/>
                </a:solidFill>
                <a:latin typeface="Times New Roman"/>
              </a:rPr>
              <a:t>: </a:t>
            </a:r>
            <a:r>
              <a:rPr lang="hu-HU" sz="2500" dirty="0">
                <a:solidFill>
                  <a:prstClr val="black"/>
                </a:solidFill>
                <a:latin typeface="Times New Roman"/>
              </a:rPr>
              <a:t>a sorok közti üres sorok nem íródnak ki a fájlba</a:t>
            </a:r>
            <a:endParaRPr kumimoji="0" lang="hu-HU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959" y="365126"/>
            <a:ext cx="4469524" cy="854074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2.3. </a:t>
            </a:r>
            <a:r>
              <a:rPr sz="3200" b="1" dirty="0">
                <a:latin typeface="Times New Roman"/>
              </a:rPr>
              <a:t>JSON </a:t>
            </a:r>
            <a:r>
              <a:rPr sz="3200" b="1" dirty="0" err="1">
                <a:latin typeface="Times New Roman"/>
              </a:rPr>
              <a:t>fájl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kezelése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365" y="1219200"/>
            <a:ext cx="10660118" cy="17851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JSON (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Object Notation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egy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könnyen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olvasható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hierarchikus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adat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formátum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hu-H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Pythonban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beépített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teszi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lehetővé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fájlok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beolvasását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írását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u-H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47C2FFF-4A5F-9245-1827-2CC5FA29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7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77BA0E8-1D66-DA4E-0DB8-8EB7EFE83055}"/>
              </a:ext>
            </a:extLst>
          </p:cNvPr>
          <p:cNvSpPr txBox="1"/>
          <p:nvPr/>
        </p:nvSpPr>
        <p:spPr>
          <a:xfrm>
            <a:off x="1006365" y="3256060"/>
            <a:ext cx="3951890" cy="48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a) JSON fájl beolvasása</a:t>
            </a:r>
            <a:endParaRPr lang="hu-HU" sz="2600" b="1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9FD3B34-557C-6B85-58A9-B08E9C998894}"/>
              </a:ext>
            </a:extLst>
          </p:cNvPr>
          <p:cNvSpPr txBox="1"/>
          <p:nvPr/>
        </p:nvSpPr>
        <p:spPr>
          <a:xfrm>
            <a:off x="1545020" y="3970631"/>
            <a:ext cx="4887310" cy="1785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 dirty="0"/>
              <a:t>import </a:t>
            </a:r>
            <a:r>
              <a:rPr lang="hu-HU" sz="2200" b="1" dirty="0" err="1"/>
              <a:t>json</a:t>
            </a:r>
            <a:endParaRPr lang="hu-HU" sz="2200" b="1" dirty="0"/>
          </a:p>
          <a:p>
            <a:endParaRPr lang="hu-HU" sz="2200" b="1" dirty="0"/>
          </a:p>
          <a:p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</a:t>
            </a:r>
            <a:r>
              <a:rPr lang="hu-HU" sz="2200" b="1" dirty="0" err="1"/>
              <a:t>adatok.json</a:t>
            </a:r>
            <a:r>
              <a:rPr lang="hu-HU" sz="2200" b="1" dirty="0"/>
              <a:t>", "r") </a:t>
            </a:r>
            <a:r>
              <a:rPr lang="hu-HU" sz="2200" b="1" dirty="0" err="1"/>
              <a:t>as</a:t>
            </a:r>
            <a:r>
              <a:rPr lang="hu-HU" sz="2200" b="1" dirty="0"/>
              <a:t> file: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data</a:t>
            </a:r>
            <a:r>
              <a:rPr lang="hu-HU" sz="2200" b="1" dirty="0"/>
              <a:t> = </a:t>
            </a:r>
            <a:r>
              <a:rPr lang="hu-HU" sz="2200" b="1" dirty="0" err="1"/>
              <a:t>json.load</a:t>
            </a:r>
            <a:r>
              <a:rPr lang="hu-HU" sz="2200" b="1" dirty="0"/>
              <a:t>(file)</a:t>
            </a:r>
          </a:p>
          <a:p>
            <a:r>
              <a:rPr lang="hu-HU" sz="2200" b="1" dirty="0"/>
              <a:t>    print(</a:t>
            </a:r>
            <a:r>
              <a:rPr lang="hu-HU" sz="2200" b="1" dirty="0" err="1"/>
              <a:t>data</a:t>
            </a:r>
            <a:r>
              <a:rPr lang="hu-HU" sz="2200" b="1" dirty="0"/>
              <a:t>)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8863A1B-BD71-6458-701F-9D04612B7DAF}"/>
              </a:ext>
            </a:extLst>
          </p:cNvPr>
          <p:cNvSpPr txBox="1"/>
          <p:nvPr/>
        </p:nvSpPr>
        <p:spPr>
          <a:xfrm>
            <a:off x="6852745" y="3853697"/>
            <a:ext cx="4243360" cy="225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json.load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függvény a </a:t>
            </a:r>
            <a:r>
              <a:rPr kumimoji="0" lang="hu-HU" sz="2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adatok.json</a:t>
            </a: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fájl tartalmát beolvassa és 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Python szótárrá </a:t>
            </a: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alakítja. A beolvasott adatok így közvetlenül elérhetőek a programban.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082159" cy="643868"/>
          </a:xfrm>
        </p:spPr>
        <p:txBody>
          <a:bodyPr>
            <a:normAutofit/>
          </a:bodyPr>
          <a:lstStyle/>
          <a:p>
            <a:r>
              <a:rPr lang="hu-HU" sz="2600" b="1" dirty="0">
                <a:latin typeface="Times New Roman"/>
              </a:rPr>
              <a:t>b) </a:t>
            </a:r>
            <a:r>
              <a:rPr sz="2600" b="1" dirty="0">
                <a:latin typeface="Times New Roman"/>
              </a:rPr>
              <a:t>JSON </a:t>
            </a:r>
            <a:r>
              <a:rPr sz="2600" b="1" dirty="0" err="1">
                <a:latin typeface="Times New Roman"/>
              </a:rPr>
              <a:t>fájl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írása</a:t>
            </a:r>
            <a:endParaRPr sz="26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4868" y="574392"/>
            <a:ext cx="5867400" cy="3166789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200" b="1" dirty="0"/>
              <a:t>import </a:t>
            </a:r>
            <a:r>
              <a:rPr sz="2200" b="1" dirty="0" err="1"/>
              <a:t>json</a:t>
            </a:r>
            <a:endParaRPr sz="2200" b="1" dirty="0"/>
          </a:p>
          <a:p>
            <a:pPr marL="0" indent="0">
              <a:spcBef>
                <a:spcPts val="0"/>
              </a:spcBef>
              <a:buNone/>
            </a:pPr>
            <a:r>
              <a:rPr sz="2200" b="1" dirty="0" err="1"/>
              <a:t>adatok</a:t>
            </a:r>
            <a:r>
              <a:rPr sz="2200" b="1" dirty="0"/>
              <a:t> = {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"</a:t>
            </a:r>
            <a:r>
              <a:rPr sz="2200" b="1" dirty="0" err="1"/>
              <a:t>nev</a:t>
            </a:r>
            <a:r>
              <a:rPr sz="2200" b="1" dirty="0"/>
              <a:t>": "</a:t>
            </a:r>
            <a:r>
              <a:rPr lang="hu-HU" sz="2200" b="1" dirty="0"/>
              <a:t>Bob</a:t>
            </a:r>
            <a:r>
              <a:rPr sz="2200" b="1" dirty="0"/>
              <a:t>",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"kor": 25,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"</a:t>
            </a:r>
            <a:r>
              <a:rPr sz="2200" b="1" dirty="0" err="1"/>
              <a:t>varos</a:t>
            </a:r>
            <a:r>
              <a:rPr sz="2200" b="1" dirty="0"/>
              <a:t>": "Budapest",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"</a:t>
            </a:r>
            <a:r>
              <a:rPr lang="hu-HU" sz="2200" b="1" dirty="0" err="1"/>
              <a:t>devices</a:t>
            </a:r>
            <a:r>
              <a:rPr sz="2200" b="1" dirty="0"/>
              <a:t>": ["</a:t>
            </a:r>
            <a:r>
              <a:rPr lang="hu-HU" sz="2200" b="1" dirty="0"/>
              <a:t>notebook</a:t>
            </a:r>
            <a:r>
              <a:rPr sz="2200" b="1" dirty="0"/>
              <a:t>", "</a:t>
            </a:r>
            <a:r>
              <a:rPr lang="hu-HU" sz="2200" b="1" dirty="0" err="1"/>
              <a:t>charger</a:t>
            </a:r>
            <a:r>
              <a:rPr sz="2200" b="1" dirty="0"/>
              <a:t>", "</a:t>
            </a:r>
            <a:r>
              <a:rPr lang="hu-HU" sz="2200" b="1" dirty="0"/>
              <a:t>tablet</a:t>
            </a:r>
            <a:r>
              <a:rPr sz="2200" b="1" dirty="0"/>
              <a:t>"]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hu-HU" sz="2200" b="1" dirty="0"/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with open("</a:t>
            </a:r>
            <a:r>
              <a:rPr sz="2200" b="1" dirty="0" err="1"/>
              <a:t>kimenet.json</a:t>
            </a:r>
            <a:r>
              <a:rPr sz="2200" b="1" dirty="0"/>
              <a:t>", "w") as </a:t>
            </a:r>
            <a:r>
              <a:rPr lang="hu-HU" sz="2200" b="1" dirty="0"/>
              <a:t>file</a:t>
            </a:r>
            <a:r>
              <a:rPr sz="2200" b="1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</a:t>
            </a:r>
            <a:r>
              <a:rPr sz="2200" b="1" dirty="0" err="1"/>
              <a:t>json.dump</a:t>
            </a:r>
            <a:r>
              <a:rPr sz="2200" b="1" dirty="0"/>
              <a:t>(</a:t>
            </a:r>
            <a:r>
              <a:rPr sz="2200" b="1" dirty="0" err="1"/>
              <a:t>adatok</a:t>
            </a:r>
            <a:r>
              <a:rPr sz="2200" b="1" dirty="0"/>
              <a:t>, </a:t>
            </a:r>
            <a:r>
              <a:rPr lang="hu-HU" sz="2200" b="1" dirty="0"/>
              <a:t>file</a:t>
            </a:r>
            <a:r>
              <a:rPr sz="2200" b="1" dirty="0"/>
              <a:t>, indent=4)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97B5832-DA7E-31E7-DE16-81202D2C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8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BEF2CBA-D734-19E4-D507-8B64DA5F6015}"/>
              </a:ext>
            </a:extLst>
          </p:cNvPr>
          <p:cNvSpPr txBox="1"/>
          <p:nvPr/>
        </p:nvSpPr>
        <p:spPr>
          <a:xfrm>
            <a:off x="462456" y="1031325"/>
            <a:ext cx="4866290" cy="225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json.dump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()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függvénnyel az adatok </a:t>
            </a:r>
            <a:r>
              <a:rPr kumimoji="0" lang="hu-HU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szótárat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JSON formátumba írjuk ki a </a:t>
            </a:r>
            <a:r>
              <a:rPr kumimoji="0" lang="hu-HU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kimenet.json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fájlba. </a:t>
            </a:r>
            <a:b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Az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indent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=4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paraméter biztosítja a JSON fájl olvashatóságát, tagolt formátumban.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D954CE3-31E2-845C-A4A2-FFD5B4A459DA}"/>
              </a:ext>
            </a:extLst>
          </p:cNvPr>
          <p:cNvSpPr txBox="1"/>
          <p:nvPr/>
        </p:nvSpPr>
        <p:spPr>
          <a:xfrm>
            <a:off x="838200" y="3869353"/>
            <a:ext cx="2755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u-H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Összefoglalás</a:t>
            </a:r>
            <a:endParaRPr lang="hu-HU" b="1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B777DDD-AF7C-D8C7-6AA7-41DC89A0E52A}"/>
              </a:ext>
            </a:extLst>
          </p:cNvPr>
          <p:cNvSpPr txBox="1"/>
          <p:nvPr/>
        </p:nvSpPr>
        <p:spPr>
          <a:xfrm>
            <a:off x="838200" y="4454128"/>
            <a:ext cx="1101681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Pythonban a </a:t>
            </a:r>
            <a:r>
              <a:rPr kumimoji="0" lang="hu-HU" sz="2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hu-HU" sz="2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() szerkezet használatával egyszerűen kezelhetjük a fájlokat, mivel automatikusan biztosítja a fájl megfelelő bezárását. Az egyes fájltípusok esetén külön modulokat használhatunk: a szöveges fájlokhoz nincs szükség külön modulra, a CSV fájlokhoz a </a:t>
            </a:r>
            <a:r>
              <a:rPr kumimoji="0" lang="hu-HU" sz="2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modul, míg a JSON fájlokhoz a </a:t>
            </a:r>
            <a:r>
              <a:rPr kumimoji="0" lang="hu-HU" sz="2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kumimoji="0" lang="hu-HU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modul biztosít könnyű kezelhetőséget.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74D3-D396-204A-F83E-AE12301B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AE14BE-A06D-BD86-F07B-9055DDA2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045" y="354544"/>
            <a:ext cx="7401910" cy="815000"/>
          </a:xfrm>
        </p:spPr>
        <p:txBody>
          <a:bodyPr>
            <a:normAutofit/>
          </a:bodyPr>
          <a:lstStyle/>
          <a:p>
            <a:pPr algn="ctr"/>
            <a:r>
              <a:rPr lang="hu-H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hu-HU" sz="3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Fájlműveletek hibakezelése </a:t>
            </a:r>
            <a:endParaRPr lang="hu-H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6B959D2-F0EF-FBD3-18FB-FB58B7FF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9</a:t>
            </a:fld>
            <a:endParaRPr lang="hu-HU"/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31400C7A-86CE-7F9E-7DCE-5EBD090C4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227"/>
            <a:ext cx="10515600" cy="593496"/>
          </a:xfrm>
        </p:spPr>
        <p:txBody>
          <a:bodyPr/>
          <a:lstStyle/>
          <a:p>
            <a:pPr marL="0" indent="0">
              <a:buNone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3.1.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Hibakezelés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Pythonban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: Try-Except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struktúra</a:t>
            </a:r>
            <a:endParaRPr lang="hu-HU" b="1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326984F-8FF2-9830-520A-7AE6C4406866}"/>
              </a:ext>
            </a:extLst>
          </p:cNvPr>
          <p:cNvSpPr txBox="1"/>
          <p:nvPr/>
        </p:nvSpPr>
        <p:spPr>
          <a:xfrm>
            <a:off x="1405758" y="2072100"/>
            <a:ext cx="10124090" cy="428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fájlműveletek során Pythonban előfordulhatnak különféle hibák, például ha a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fájl nem létezik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vagy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nem rendelkezünk a szükséges jogosultságokkal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 fájl megnyitásához.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Az ilyen hibák kezelése elengedhetetlen ahhoz, hogy programjaink stabilan működjenek, és a felhasználó megfelelő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tájékoztatást kapjon a problémáról.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Pythonban a hibakezelést a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blokk 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segítségével valósítjuk meg, amely lehetővé teszi, hogy különféle hibákat (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kivételkezeléseket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kezeljünk anélkül, hogy a program megszakadna.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try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blokkba 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kerül a végrehajtandó kódrészlet, az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except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blokk 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pedig meghatározza, hogyan kezeljük az adott hibát.</a:t>
            </a:r>
          </a:p>
        </p:txBody>
      </p:sp>
    </p:spTree>
    <p:extLst>
      <p:ext uri="{BB962C8B-B14F-4D97-AF65-F5344CB8AC3E}">
        <p14:creationId xmlns:p14="http://schemas.microsoft.com/office/powerpoint/2010/main" val="1826060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559566" cy="738461"/>
          </a:xfrm>
        </p:spPr>
        <p:txBody>
          <a:bodyPr>
            <a:noAutofit/>
          </a:bodyPr>
          <a:lstStyle/>
          <a:p>
            <a:r>
              <a:rPr sz="3000" b="1" dirty="0" err="1">
                <a:latin typeface="Times New Roman"/>
              </a:rPr>
              <a:t>Példa</a:t>
            </a:r>
            <a:r>
              <a:rPr sz="3000" b="1" dirty="0">
                <a:latin typeface="Times New Roman"/>
              </a:rPr>
              <a:t>: </a:t>
            </a:r>
            <a:r>
              <a:rPr sz="3000" b="1" dirty="0" err="1">
                <a:latin typeface="Times New Roman"/>
              </a:rPr>
              <a:t>Fájl</a:t>
            </a:r>
            <a:r>
              <a:rPr sz="3000" b="1" dirty="0">
                <a:latin typeface="Times New Roman"/>
              </a:rPr>
              <a:t> </a:t>
            </a:r>
            <a:r>
              <a:rPr sz="3000" b="1" dirty="0" err="1">
                <a:latin typeface="Times New Roman"/>
              </a:rPr>
              <a:t>megnyitásának</a:t>
            </a:r>
            <a:r>
              <a:rPr sz="3000" b="1" dirty="0">
                <a:latin typeface="Times New Roman"/>
              </a:rPr>
              <a:t> </a:t>
            </a:r>
            <a:r>
              <a:rPr sz="3000" b="1" dirty="0" err="1">
                <a:latin typeface="Times New Roman"/>
              </a:rPr>
              <a:t>hibakezelése</a:t>
            </a:r>
            <a:endParaRPr sz="30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9951" y="1373680"/>
            <a:ext cx="7338848" cy="2809437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200" b="1" dirty="0"/>
              <a:t>try: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1" dirty="0"/>
              <a:t>    with open("nonexistent_file.txt", "r") as file: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1" dirty="0"/>
              <a:t>        content = </a:t>
            </a:r>
            <a:r>
              <a:rPr sz="2200" b="1" dirty="0" err="1"/>
              <a:t>file.read</a:t>
            </a:r>
            <a:r>
              <a:rPr sz="2200" b="1" dirty="0"/>
              <a:t>()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1" dirty="0"/>
              <a:t>except </a:t>
            </a:r>
            <a:r>
              <a:rPr sz="2200" b="1" dirty="0" err="1"/>
              <a:t>FileNotFoundError</a:t>
            </a:r>
            <a:r>
              <a:rPr sz="2200" b="1" dirty="0"/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1" dirty="0"/>
              <a:t>    print("Hiba: A </a:t>
            </a:r>
            <a:r>
              <a:rPr sz="2200" b="1" dirty="0" err="1"/>
              <a:t>fájl</a:t>
            </a:r>
            <a:r>
              <a:rPr sz="2200" b="1" dirty="0"/>
              <a:t> </a:t>
            </a:r>
            <a:r>
              <a:rPr sz="2200" b="1" dirty="0" err="1"/>
              <a:t>nem</a:t>
            </a:r>
            <a:r>
              <a:rPr sz="2200" b="1" dirty="0"/>
              <a:t> </a:t>
            </a:r>
            <a:r>
              <a:rPr sz="2200" b="1" dirty="0" err="1"/>
              <a:t>található</a:t>
            </a:r>
            <a:r>
              <a:rPr sz="2200" b="1" dirty="0"/>
              <a:t>!")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1" dirty="0"/>
              <a:t>except </a:t>
            </a:r>
            <a:r>
              <a:rPr sz="2200" b="1" dirty="0" err="1"/>
              <a:t>PermissionError</a:t>
            </a:r>
            <a:r>
              <a:rPr sz="2200" b="1" dirty="0"/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1" dirty="0"/>
              <a:t>    print("Hiba: </a:t>
            </a:r>
            <a:r>
              <a:rPr sz="2200" b="1" dirty="0" err="1"/>
              <a:t>Nincs</a:t>
            </a:r>
            <a:r>
              <a:rPr sz="2200" b="1" dirty="0"/>
              <a:t> </a:t>
            </a:r>
            <a:r>
              <a:rPr sz="2200" b="1" dirty="0" err="1"/>
              <a:t>jogosultság</a:t>
            </a:r>
            <a:r>
              <a:rPr sz="2200" b="1" dirty="0"/>
              <a:t> a </a:t>
            </a:r>
            <a:r>
              <a:rPr sz="2200" b="1" dirty="0" err="1"/>
              <a:t>fájl</a:t>
            </a:r>
            <a:r>
              <a:rPr sz="2200" b="1" dirty="0"/>
              <a:t> </a:t>
            </a:r>
            <a:r>
              <a:rPr sz="2200" b="1" dirty="0" err="1"/>
              <a:t>megnyitásához</a:t>
            </a:r>
            <a:r>
              <a:rPr sz="2200" b="1" dirty="0"/>
              <a:t>!")</a:t>
            </a:r>
            <a:endParaRPr lang="hu-HU" sz="2200" b="1" dirty="0"/>
          </a:p>
          <a:p>
            <a:pPr marL="0" indent="0">
              <a:spcBef>
                <a:spcPts val="600"/>
              </a:spcBef>
              <a:buNone/>
            </a:pPr>
            <a:r>
              <a:rPr lang="hu-HU" sz="2200" b="1" dirty="0" err="1">
                <a:solidFill>
                  <a:srgbClr val="FF0000"/>
                </a:solidFill>
              </a:rPr>
              <a:t>finally</a:t>
            </a:r>
            <a:r>
              <a:rPr lang="hu-HU" sz="2200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2200" b="1" dirty="0">
                <a:solidFill>
                  <a:srgbClr val="FF0000"/>
                </a:solidFill>
              </a:rPr>
              <a:t>    </a:t>
            </a:r>
            <a:r>
              <a:rPr lang="hu-HU" sz="2200" b="1" dirty="0" err="1">
                <a:solidFill>
                  <a:srgbClr val="FF0000"/>
                </a:solidFill>
              </a:rPr>
              <a:t>if</a:t>
            </a:r>
            <a:r>
              <a:rPr lang="hu-HU" sz="2200" b="1" dirty="0">
                <a:solidFill>
                  <a:srgbClr val="FF0000"/>
                </a:solidFill>
              </a:rPr>
              <a:t> file: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2200" b="1" dirty="0">
                <a:solidFill>
                  <a:srgbClr val="FF0000"/>
                </a:solidFill>
              </a:rPr>
              <a:t>        </a:t>
            </a:r>
            <a:r>
              <a:rPr lang="hu-HU" sz="2200" b="1" dirty="0" err="1">
                <a:solidFill>
                  <a:srgbClr val="FF0000"/>
                </a:solidFill>
              </a:rPr>
              <a:t>close</a:t>
            </a:r>
            <a:r>
              <a:rPr lang="hu-HU" sz="2200" b="1" dirty="0">
                <a:solidFill>
                  <a:srgbClr val="FF0000"/>
                </a:solidFill>
              </a:rPr>
              <a:t>(file)</a:t>
            </a:r>
            <a:endParaRPr sz="2200" b="1" dirty="0">
              <a:solidFill>
                <a:srgbClr val="FF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endParaRPr sz="2200" b="1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CC02B71-17F1-A559-F0EA-E0E6953AE328}"/>
              </a:ext>
            </a:extLst>
          </p:cNvPr>
          <p:cNvSpPr txBox="1"/>
          <p:nvPr/>
        </p:nvSpPr>
        <p:spPr>
          <a:xfrm>
            <a:off x="1282260" y="4575726"/>
            <a:ext cx="9448801" cy="94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Ha a fájl nem található, a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FileNotFoundError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kivétel lép fel.</a:t>
            </a:r>
          </a:p>
          <a:p>
            <a:pPr marL="457200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Ha nincs jogosultságunk, a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PermissionError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kerül kiváltásra.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4A465A0-F292-E54E-799D-96A0153E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10</a:t>
            </a:fld>
            <a:endParaRPr lang="hu-H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901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70000"/>
              </a:lnSpc>
            </a:pPr>
            <a:r>
              <a:rPr lang="hu-HU" sz="3600" b="1" dirty="0">
                <a:latin typeface="Times New Roman"/>
              </a:rPr>
              <a:t>3.2. </a:t>
            </a:r>
            <a:r>
              <a:rPr sz="3600" b="1" dirty="0" err="1">
                <a:latin typeface="Times New Roman"/>
              </a:rPr>
              <a:t>Gyakori</a:t>
            </a:r>
            <a:r>
              <a:rPr sz="3600" b="1" dirty="0">
                <a:latin typeface="Times New Roman"/>
              </a:rPr>
              <a:t> </a:t>
            </a:r>
            <a:r>
              <a:rPr sz="3600" b="1" dirty="0" err="1">
                <a:latin typeface="Times New Roman"/>
              </a:rPr>
              <a:t>fájlműveleti</a:t>
            </a:r>
            <a:r>
              <a:rPr sz="3600" b="1" dirty="0">
                <a:latin typeface="Times New Roman"/>
              </a:rPr>
              <a:t> </a:t>
            </a:r>
            <a:r>
              <a:rPr sz="3600" b="1" dirty="0" err="1">
                <a:latin typeface="Times New Roman"/>
              </a:rPr>
              <a:t>hibák</a:t>
            </a:r>
            <a:r>
              <a:rPr sz="3600" b="1" dirty="0">
                <a:latin typeface="Times New Roman"/>
              </a:rPr>
              <a:t> </a:t>
            </a:r>
            <a:r>
              <a:rPr sz="3600" b="1" dirty="0" err="1">
                <a:latin typeface="Times New Roman"/>
              </a:rPr>
              <a:t>és</a:t>
            </a:r>
            <a:r>
              <a:rPr sz="3600" b="1" dirty="0">
                <a:latin typeface="Times New Roman"/>
              </a:rPr>
              <a:t> </a:t>
            </a:r>
            <a:r>
              <a:rPr sz="3600" b="1" dirty="0" err="1">
                <a:latin typeface="Times New Roman"/>
              </a:rPr>
              <a:t>azok</a:t>
            </a:r>
            <a:r>
              <a:rPr sz="3600" b="1" dirty="0">
                <a:latin typeface="Times New Roman"/>
              </a:rPr>
              <a:t> </a:t>
            </a:r>
            <a:r>
              <a:rPr sz="3600" b="1" dirty="0" err="1">
                <a:latin typeface="Times New Roman"/>
              </a:rPr>
              <a:t>kezelése</a:t>
            </a:r>
            <a:r>
              <a:rPr sz="3600" b="1" dirty="0">
                <a:latin typeface="Times New Roman"/>
              </a:rPr>
              <a:t>: </a:t>
            </a:r>
            <a:br>
              <a:rPr lang="hu-HU" sz="3200" b="1" dirty="0">
                <a:latin typeface="Times New Roman"/>
              </a:rPr>
            </a:br>
            <a:r>
              <a:rPr lang="hu-HU" sz="2900" b="1" dirty="0">
                <a:latin typeface="Times New Roman"/>
              </a:rPr>
              <a:t>a) </a:t>
            </a:r>
            <a:r>
              <a:rPr sz="2900" b="1" dirty="0" err="1">
                <a:latin typeface="Times New Roman"/>
              </a:rPr>
              <a:t>FileNotFoundError</a:t>
            </a:r>
            <a:endParaRPr sz="29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19" y="2466909"/>
            <a:ext cx="9144000" cy="182776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2000" b="1" dirty="0"/>
              <a:t>try: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2000" b="1" dirty="0"/>
              <a:t>    with open("adatok.txt", "r") as file: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2000" b="1" dirty="0"/>
              <a:t>        content = </a:t>
            </a:r>
            <a:r>
              <a:rPr sz="2000" b="1" dirty="0" err="1"/>
              <a:t>file.read</a:t>
            </a:r>
            <a:r>
              <a:rPr sz="2000" b="1" dirty="0"/>
              <a:t>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2000" b="1" dirty="0"/>
              <a:t>except </a:t>
            </a:r>
            <a:r>
              <a:rPr sz="2000" b="1" dirty="0" err="1"/>
              <a:t>FileNotFoundError</a:t>
            </a:r>
            <a:r>
              <a:rPr sz="2000" b="1" dirty="0"/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2000" b="1" dirty="0"/>
              <a:t>    print("Hiba: Az adatok.txt </a:t>
            </a:r>
            <a:r>
              <a:rPr sz="2000" b="1" dirty="0" err="1"/>
              <a:t>fájl</a:t>
            </a:r>
            <a:r>
              <a:rPr sz="2000" b="1" dirty="0"/>
              <a:t> </a:t>
            </a:r>
            <a:r>
              <a:rPr sz="2000" b="1" dirty="0" err="1"/>
              <a:t>nem</a:t>
            </a:r>
            <a:r>
              <a:rPr sz="2000" b="1" dirty="0"/>
              <a:t> </a:t>
            </a:r>
            <a:r>
              <a:rPr sz="2000" b="1" dirty="0" err="1"/>
              <a:t>található</a:t>
            </a:r>
            <a:r>
              <a:rPr sz="2000" b="1" dirty="0"/>
              <a:t>. </a:t>
            </a:r>
            <a:r>
              <a:rPr sz="2000" b="1" dirty="0" err="1"/>
              <a:t>Ellenőrizze</a:t>
            </a:r>
            <a:r>
              <a:rPr sz="2000" b="1" dirty="0"/>
              <a:t> a </a:t>
            </a:r>
            <a:r>
              <a:rPr sz="2000" b="1" dirty="0" err="1"/>
              <a:t>fájl</a:t>
            </a:r>
            <a:r>
              <a:rPr sz="2000" b="1" dirty="0"/>
              <a:t> </a:t>
            </a:r>
            <a:r>
              <a:rPr sz="2000" b="1" dirty="0" err="1"/>
              <a:t>elérési</a:t>
            </a:r>
            <a:r>
              <a:rPr sz="2000" b="1" dirty="0"/>
              <a:t> </a:t>
            </a:r>
            <a:r>
              <a:rPr sz="2000" b="1" dirty="0" err="1"/>
              <a:t>útját</a:t>
            </a:r>
            <a:r>
              <a:rPr sz="2000" b="1" dirty="0"/>
              <a:t>!")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sz="2000" b="1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10EDB49-7943-156B-A1E8-6C342F8E80C7}"/>
              </a:ext>
            </a:extLst>
          </p:cNvPr>
          <p:cNvSpPr txBox="1"/>
          <p:nvPr/>
        </p:nvSpPr>
        <p:spPr>
          <a:xfrm>
            <a:off x="838200" y="1708591"/>
            <a:ext cx="9711559" cy="81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Ez a hiba akkor fordul elő, ha a megnyitni kívánt 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fájl nem létezik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az elérési útvonalon.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1795278-5777-64B9-75B9-1C6217662281}"/>
              </a:ext>
            </a:extLst>
          </p:cNvPr>
          <p:cNvSpPr txBox="1"/>
          <p:nvPr/>
        </p:nvSpPr>
        <p:spPr>
          <a:xfrm>
            <a:off x="838200" y="4482899"/>
            <a:ext cx="32582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b)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PermissionError</a:t>
            </a:r>
            <a:endParaRPr lang="hu-HU" sz="2600" b="1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3802CD55-A591-D8D4-281C-3B6D3BC3043F}"/>
              </a:ext>
            </a:extLst>
          </p:cNvPr>
          <p:cNvSpPr txBox="1"/>
          <p:nvPr/>
        </p:nvSpPr>
        <p:spPr>
          <a:xfrm>
            <a:off x="4654018" y="4586334"/>
            <a:ext cx="6199039" cy="17561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try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with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open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("/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system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/protected_file.txt", "r")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as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file: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   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content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=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file.read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except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PermissionError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print("Hiba: Nem rendelkezik jogosultsággal a fájl megnyitásához.")</a:t>
            </a:r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E4810393-54EC-512B-385B-A31428FA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11</a:t>
            </a:fld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761F039-8E0A-F2F3-564C-842D9C387537}"/>
              </a:ext>
            </a:extLst>
          </p:cNvPr>
          <p:cNvSpPr txBox="1"/>
          <p:nvPr/>
        </p:nvSpPr>
        <p:spPr>
          <a:xfrm>
            <a:off x="821684" y="5051747"/>
            <a:ext cx="3832335" cy="117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Ez a hiba akkor fordulhat elő, ha a fájlhoz szükséges jogosultságok hiányoznak.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193" y="784255"/>
            <a:ext cx="7906407" cy="517744"/>
          </a:xfrm>
        </p:spPr>
        <p:txBody>
          <a:bodyPr>
            <a:normAutofit/>
          </a:bodyPr>
          <a:lstStyle/>
          <a:p>
            <a:r>
              <a:rPr lang="hu-HU" sz="2600" b="1" dirty="0">
                <a:latin typeface="Times New Roman"/>
              </a:rPr>
              <a:t>c) </a:t>
            </a:r>
            <a:r>
              <a:rPr sz="2600" b="1" dirty="0" err="1">
                <a:latin typeface="Times New Roman"/>
              </a:rPr>
              <a:t>IsADirectoryError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és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NotADirectoryError</a:t>
            </a:r>
            <a:r>
              <a:rPr sz="2600" b="1" dirty="0">
                <a:latin typeface="Times New Roman"/>
              </a:rPr>
              <a:t> </a:t>
            </a:r>
            <a:r>
              <a:rPr sz="2600" b="1" dirty="0" err="1">
                <a:latin typeface="Times New Roman"/>
              </a:rPr>
              <a:t>kezelése</a:t>
            </a:r>
            <a:endParaRPr sz="26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193" y="1584604"/>
            <a:ext cx="10775731" cy="5177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500" dirty="0">
                <a:latin typeface="Times New Roman"/>
              </a:rPr>
              <a:t>Az </a:t>
            </a:r>
            <a:r>
              <a:rPr sz="2500" dirty="0" err="1">
                <a:latin typeface="Times New Roman"/>
              </a:rPr>
              <a:t>IsADirectoryError</a:t>
            </a:r>
            <a:r>
              <a:rPr sz="2500" dirty="0">
                <a:latin typeface="Times New Roman"/>
              </a:rPr>
              <a:t> </a:t>
            </a:r>
            <a:r>
              <a:rPr sz="2500" dirty="0" err="1">
                <a:latin typeface="Times New Roman"/>
              </a:rPr>
              <a:t>akkor</a:t>
            </a:r>
            <a:r>
              <a:rPr sz="2500" dirty="0">
                <a:latin typeface="Times New Roman"/>
              </a:rPr>
              <a:t> </a:t>
            </a:r>
            <a:r>
              <a:rPr sz="2500" dirty="0" err="1">
                <a:latin typeface="Times New Roman"/>
              </a:rPr>
              <a:t>lép</a:t>
            </a:r>
            <a:r>
              <a:rPr sz="2500" dirty="0">
                <a:latin typeface="Times New Roman"/>
              </a:rPr>
              <a:t> </a:t>
            </a:r>
            <a:r>
              <a:rPr sz="2500" dirty="0" err="1">
                <a:latin typeface="Times New Roman"/>
              </a:rPr>
              <a:t>fel</a:t>
            </a:r>
            <a:r>
              <a:rPr sz="2500" dirty="0">
                <a:latin typeface="Times New Roman"/>
              </a:rPr>
              <a:t>, ha </a:t>
            </a:r>
            <a:r>
              <a:rPr sz="2500" dirty="0" err="1">
                <a:latin typeface="Times New Roman"/>
              </a:rPr>
              <a:t>egy</a:t>
            </a:r>
            <a:r>
              <a:rPr sz="2500" dirty="0">
                <a:latin typeface="Times New Roman"/>
              </a:rPr>
              <a:t> </a:t>
            </a:r>
            <a:r>
              <a:rPr sz="2500" u="sng" dirty="0" err="1">
                <a:latin typeface="Times New Roman"/>
              </a:rPr>
              <a:t>könyvtárat</a:t>
            </a:r>
            <a:r>
              <a:rPr sz="2500" u="sng" dirty="0">
                <a:latin typeface="Times New Roman"/>
              </a:rPr>
              <a:t> </a:t>
            </a:r>
            <a:r>
              <a:rPr sz="2500" u="sng" dirty="0" err="1">
                <a:latin typeface="Times New Roman"/>
              </a:rPr>
              <a:t>próbálunk</a:t>
            </a:r>
            <a:r>
              <a:rPr sz="2500" u="sng" dirty="0">
                <a:latin typeface="Times New Roman"/>
              </a:rPr>
              <a:t> </a:t>
            </a:r>
            <a:r>
              <a:rPr sz="2500" u="sng" dirty="0" err="1">
                <a:latin typeface="Times New Roman"/>
              </a:rPr>
              <a:t>fájlként</a:t>
            </a:r>
            <a:r>
              <a:rPr sz="2500" u="sng" dirty="0">
                <a:latin typeface="Times New Roman"/>
              </a:rPr>
              <a:t> </a:t>
            </a:r>
            <a:r>
              <a:rPr sz="2500" u="sng" dirty="0" err="1">
                <a:latin typeface="Times New Roman"/>
              </a:rPr>
              <a:t>kezelni</a:t>
            </a:r>
            <a:r>
              <a:rPr sz="2500" dirty="0">
                <a:latin typeface="Times New Roman"/>
              </a:rPr>
              <a:t>.</a:t>
            </a:r>
          </a:p>
          <a:p>
            <a:endParaRPr sz="2500" dirty="0">
              <a:latin typeface="Times New Roman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6F3EA5E-3A63-41DF-8645-0330971D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12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7BD1119-37D0-8FF6-6D2A-8319F9D38548}"/>
              </a:ext>
            </a:extLst>
          </p:cNvPr>
          <p:cNvSpPr txBox="1"/>
          <p:nvPr/>
        </p:nvSpPr>
        <p:spPr>
          <a:xfrm>
            <a:off x="1996966" y="2220699"/>
            <a:ext cx="7189076" cy="1785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try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</a:t>
            </a: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with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open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("</a:t>
            </a: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some_directory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", "r") </a:t>
            </a: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as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file:</a:t>
            </a:r>
          </a:p>
          <a:p>
            <a:pPr marL="0" marR="0" lvl="0" indent="0" algn="l" defTabSz="914400" rtl="0" eaLnBrk="1" fontAlgn="auto" latinLnBrk="0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    </a:t>
            </a: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content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= </a:t>
            </a: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file.read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except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hu-HU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IsADirectoryError</a:t>
            </a: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print("Hiba: Az adott útvonal egy könyvtár, nem fájl.")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253248" cy="822544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3.3. </a:t>
            </a:r>
            <a:r>
              <a:rPr sz="3200" b="1" dirty="0" err="1">
                <a:latin typeface="Times New Roman"/>
              </a:rPr>
              <a:t>Általános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kivételkezelés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fájlműveleteknél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876" y="1353033"/>
            <a:ext cx="9987456" cy="16178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600" dirty="0">
                <a:latin typeface="Times New Roman"/>
              </a:rPr>
              <a:t>Előfordulhatnak váratlan hibák, amelyeket általánosan, az </a:t>
            </a:r>
            <a:r>
              <a:rPr lang="hu-HU" sz="2600" b="1" dirty="0" err="1">
                <a:latin typeface="Times New Roman"/>
              </a:rPr>
              <a:t>Exception</a:t>
            </a:r>
            <a:r>
              <a:rPr lang="hu-HU" sz="2600" dirty="0">
                <a:latin typeface="Times New Roman"/>
              </a:rPr>
              <a:t> kivételkezelővel kezelhetünk. </a:t>
            </a:r>
          </a:p>
          <a:p>
            <a:pPr marL="0" indent="0">
              <a:buNone/>
            </a:pPr>
            <a:r>
              <a:rPr lang="hu-HU" sz="2600" dirty="0">
                <a:latin typeface="Times New Roman"/>
              </a:rPr>
              <a:t>Ilyenkor a kiváltott hibát kiírhatjuk, ami segíthet a probléma </a:t>
            </a:r>
            <a:r>
              <a:rPr lang="hu-HU" sz="2600" b="1" dirty="0">
                <a:latin typeface="Times New Roman"/>
              </a:rPr>
              <a:t>diagnosztizálásában</a:t>
            </a:r>
            <a:r>
              <a:rPr lang="hu-HU" sz="2600" dirty="0">
                <a:latin typeface="Times New Roman"/>
              </a:rPr>
              <a:t>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733AE2C-456A-158C-0639-AED4A79F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13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55C6EEC-87D2-0296-E90E-0A94DEF0DE35}"/>
              </a:ext>
            </a:extLst>
          </p:cNvPr>
          <p:cNvSpPr txBox="1"/>
          <p:nvPr/>
        </p:nvSpPr>
        <p:spPr>
          <a:xfrm>
            <a:off x="1502981" y="3554932"/>
            <a:ext cx="5034455" cy="19394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try: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with open("adatok.txt", "r") as file: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    content =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file.read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except Exception as e: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print(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f"Hiba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történt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 {e}")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AAC410C-45AC-1750-C0C7-93249AF6D657}"/>
              </a:ext>
            </a:extLst>
          </p:cNvPr>
          <p:cNvSpPr txBox="1"/>
          <p:nvPr/>
        </p:nvSpPr>
        <p:spPr>
          <a:xfrm>
            <a:off x="7011713" y="3554932"/>
            <a:ext cx="3898023" cy="1660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Ez a kód minden kivételt megfog, és 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hibát kiírja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sz="2600" dirty="0">
                <a:solidFill>
                  <a:prstClr val="black"/>
                </a:solidFill>
                <a:latin typeface="Times New Roman"/>
              </a:rPr>
              <a:t>A példában a </a:t>
            </a:r>
            <a:r>
              <a:rPr lang="hu-HU" sz="2600" u="sng" dirty="0">
                <a:solidFill>
                  <a:prstClr val="black"/>
                </a:solidFill>
                <a:latin typeface="Times New Roman"/>
              </a:rPr>
              <a:t>fájl nem létezik hiba </a:t>
            </a:r>
            <a:r>
              <a:rPr lang="hu-HU" sz="2600" dirty="0">
                <a:solidFill>
                  <a:prstClr val="black"/>
                </a:solidFill>
                <a:latin typeface="Times New Roman"/>
              </a:rPr>
              <a:t>lépett fel.</a:t>
            </a:r>
            <a:endParaRPr kumimoji="0" lang="hu-HU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996D54B-478C-8FDB-2D58-BBE23BD785DD}"/>
              </a:ext>
            </a:extLst>
          </p:cNvPr>
          <p:cNvSpPr txBox="1"/>
          <p:nvPr/>
        </p:nvSpPr>
        <p:spPr>
          <a:xfrm>
            <a:off x="1502980" y="5683045"/>
            <a:ext cx="9028385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/>
              <a:t>Hiba történt</a:t>
            </a:r>
            <a:r>
              <a:rPr lang="en-US" sz="2200" b="1"/>
              <a:t>: </a:t>
            </a:r>
            <a:r>
              <a:rPr lang="en-US" sz="2200" b="1" dirty="0"/>
              <a:t>[</a:t>
            </a:r>
            <a:r>
              <a:rPr lang="en-US" sz="2200" b="1" dirty="0" err="1"/>
              <a:t>Errno</a:t>
            </a:r>
            <a:r>
              <a:rPr lang="en-US" sz="2200" b="1" dirty="0"/>
              <a:t> 2] No such file or directory: </a:t>
            </a:r>
            <a:r>
              <a:rPr lang="hu-HU" sz="2200" b="1" dirty="0"/>
              <a:t>'adatok</a:t>
            </a:r>
            <a:r>
              <a:rPr lang="en-US" sz="2200" b="1" dirty="0"/>
              <a:t>.txt'</a:t>
            </a:r>
            <a:endParaRPr lang="hu-HU" sz="22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2309"/>
            <a:ext cx="7139152" cy="854075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3.4. </a:t>
            </a:r>
            <a:r>
              <a:rPr sz="3200" b="1" dirty="0" err="1">
                <a:latin typeface="Times New Roman"/>
              </a:rPr>
              <a:t>Fájlok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bezárása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hibakezelés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során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869" y="1101397"/>
            <a:ext cx="4966138" cy="277790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200" b="1" dirty="0"/>
              <a:t>file = None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try: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file = open("adatok.txt", "r")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content = </a:t>
            </a:r>
            <a:r>
              <a:rPr sz="2200" b="1" dirty="0" err="1"/>
              <a:t>file.read</a:t>
            </a:r>
            <a:r>
              <a:rPr sz="2200" b="1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except </a:t>
            </a:r>
            <a:r>
              <a:rPr sz="2200" b="1" dirty="0" err="1"/>
              <a:t>FileNotFoundError</a:t>
            </a:r>
            <a:r>
              <a:rPr sz="2200" b="1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print("Hiba: A </a:t>
            </a:r>
            <a:r>
              <a:rPr sz="2200" b="1" dirty="0" err="1"/>
              <a:t>fájl</a:t>
            </a:r>
            <a:r>
              <a:rPr sz="2200" b="1" dirty="0"/>
              <a:t> </a:t>
            </a:r>
            <a:r>
              <a:rPr sz="2200" b="1" dirty="0" err="1"/>
              <a:t>nem</a:t>
            </a:r>
            <a:r>
              <a:rPr sz="2200" b="1" dirty="0"/>
              <a:t> </a:t>
            </a:r>
            <a:r>
              <a:rPr sz="2200" b="1" dirty="0" err="1"/>
              <a:t>található</a:t>
            </a:r>
            <a:r>
              <a:rPr sz="2200" b="1" dirty="0"/>
              <a:t>!")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finally: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if file: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    </a:t>
            </a:r>
            <a:r>
              <a:rPr sz="2200" b="1" dirty="0" err="1"/>
              <a:t>file.close</a:t>
            </a:r>
            <a:r>
              <a:rPr sz="2200" b="1" dirty="0"/>
              <a:t>()</a:t>
            </a:r>
          </a:p>
          <a:p>
            <a:pPr marL="0" indent="0">
              <a:buNone/>
            </a:pPr>
            <a:endParaRPr sz="2200" dirty="0">
              <a:latin typeface="Times New Roman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FEA6837-C047-09A2-D324-C0EBC0E1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14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94263F1B-4CDD-C716-9088-A12F79147B86}"/>
              </a:ext>
            </a:extLst>
          </p:cNvPr>
          <p:cNvSpPr txBox="1"/>
          <p:nvPr/>
        </p:nvSpPr>
        <p:spPr>
          <a:xfrm>
            <a:off x="6587359" y="1659865"/>
            <a:ext cx="4487916" cy="1660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finally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blokk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garantálja a fájl bezárását.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with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kulcsszóval ezt egyszerűbben is elérhetjük.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1789F78-4FAC-7A48-53C2-37A5CD2114B2}"/>
              </a:ext>
            </a:extLst>
          </p:cNvPr>
          <p:cNvSpPr txBox="1"/>
          <p:nvPr/>
        </p:nvSpPr>
        <p:spPr>
          <a:xfrm>
            <a:off x="838200" y="4030799"/>
            <a:ext cx="28115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u-H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Összegzés</a:t>
            </a:r>
            <a:endParaRPr lang="hu-HU" b="1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B32B625F-F524-5B8D-05FC-F8B4A60532AC}"/>
              </a:ext>
            </a:extLst>
          </p:cNvPr>
          <p:cNvSpPr txBox="1"/>
          <p:nvPr/>
        </p:nvSpPr>
        <p:spPr>
          <a:xfrm>
            <a:off x="945931" y="4532012"/>
            <a:ext cx="10520855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fájlműveletek hibakezelése </a:t>
            </a:r>
            <a:r>
              <a:rPr lang="hu-HU" sz="2600" dirty="0">
                <a:solidFill>
                  <a:prstClr val="black"/>
                </a:solidFill>
                <a:latin typeface="Times New Roman"/>
              </a:rPr>
              <a:t>fontos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része az adatkezelési folyamatoknak. </a:t>
            </a:r>
            <a:b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</a:b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specifikus hibakezelési blokkok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segítenek a felhasználói hibák kezelésében anélkül, hogy a program lefagyna</a:t>
            </a:r>
            <a:r>
              <a:rPr lang="hu-HU" sz="2600" dirty="0">
                <a:solidFill>
                  <a:prstClr val="black"/>
                </a:solidFill>
                <a:latin typeface="Times New Roman"/>
              </a:rPr>
              <a:t>. </a:t>
            </a:r>
            <a:br>
              <a:rPr lang="hu-HU" sz="2600" dirty="0">
                <a:solidFill>
                  <a:prstClr val="black"/>
                </a:solidFill>
                <a:latin typeface="Times New Roman"/>
              </a:rPr>
            </a:br>
            <a:r>
              <a:rPr lang="hu-HU" sz="2600" dirty="0">
                <a:solidFill>
                  <a:prstClr val="black"/>
                </a:solidFill>
                <a:latin typeface="Times New Roman"/>
              </a:rPr>
              <a:t>A </a:t>
            </a:r>
            <a:r>
              <a:rPr lang="hu-HU" sz="2600" b="1" dirty="0" err="1">
                <a:solidFill>
                  <a:prstClr val="black"/>
                </a:solidFill>
                <a:latin typeface="Times New Roman"/>
              </a:rPr>
              <a:t>with</a:t>
            </a:r>
            <a:r>
              <a:rPr lang="hu-HU" sz="2600" dirty="0">
                <a:solidFill>
                  <a:prstClr val="black"/>
                </a:solidFill>
                <a:latin typeface="Times New Roman"/>
              </a:rPr>
              <a:t> kulcsszó használata biztosítja, hogy a fájlok megfelelően bezáruljanak a műveletek végén, és így elkerüljük a potenciális adatvesztést.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FF6D8-3A48-D6BB-C429-A42C1EF0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535D54-1C45-B13D-0A46-C34573DB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97" y="428188"/>
            <a:ext cx="10515600" cy="618040"/>
          </a:xfrm>
        </p:spPr>
        <p:txBody>
          <a:bodyPr>
            <a:normAutofit/>
          </a:bodyPr>
          <a:lstStyle/>
          <a:p>
            <a:pPr algn="ctr"/>
            <a:r>
              <a:rPr lang="hu-H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hu-HU" sz="3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Python </a:t>
            </a:r>
            <a:r>
              <a:rPr lang="hu-HU" sz="3600" b="1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sz="36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kulcsszó használata </a:t>
            </a:r>
            <a:endParaRPr lang="hu-H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0EF616E-A326-6F71-70E0-DDE3DAEC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15</a:t>
            </a:fld>
            <a:endParaRPr lang="hu-HU" dirty="0"/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4EF081E4-95CF-68C8-EB31-3268EF646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918" y="2369689"/>
            <a:ext cx="9711558" cy="33689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hu-HU" sz="2600" dirty="0">
                <a:latin typeface="Times New Roman"/>
              </a:rPr>
              <a:t>A Python </a:t>
            </a:r>
            <a:r>
              <a:rPr lang="hu-HU" sz="2600" b="1" dirty="0" err="1">
                <a:latin typeface="Times New Roman"/>
              </a:rPr>
              <a:t>with</a:t>
            </a:r>
            <a:r>
              <a:rPr lang="hu-HU" sz="2600" dirty="0">
                <a:latin typeface="Times New Roman"/>
              </a:rPr>
              <a:t> kulcsszó használata rendkívül hasznos, ha olyan erőforrásokkal dolgozunk, amelyeket a művelet végén automatikusan fel kell szabadítani, például </a:t>
            </a:r>
            <a:r>
              <a:rPr lang="hu-HU" sz="2600" u="sng" dirty="0">
                <a:latin typeface="Times New Roman"/>
              </a:rPr>
              <a:t>fájlok kezelésekor</a:t>
            </a:r>
            <a:r>
              <a:rPr lang="hu-HU" sz="2600" dirty="0">
                <a:latin typeface="Times New Roman"/>
              </a:rPr>
              <a:t>, </a:t>
            </a:r>
            <a:r>
              <a:rPr lang="hu-HU" sz="2600" u="sng" dirty="0">
                <a:latin typeface="Times New Roman"/>
              </a:rPr>
              <a:t>hálózati kapcsolatok nyitásakor </a:t>
            </a:r>
            <a:r>
              <a:rPr lang="hu-HU" sz="2600" dirty="0">
                <a:latin typeface="Times New Roman"/>
              </a:rPr>
              <a:t>vagy </a:t>
            </a:r>
            <a:r>
              <a:rPr lang="hu-HU" sz="2600" u="sng" dirty="0">
                <a:latin typeface="Times New Roman"/>
              </a:rPr>
              <a:t>adatbázis-kapcsolatok létrehozásakor</a:t>
            </a:r>
            <a:r>
              <a:rPr lang="hu-HU" sz="2600" dirty="0">
                <a:latin typeface="Times New Roman"/>
              </a:rPr>
              <a:t>.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hu-HU" sz="2600" dirty="0">
                <a:latin typeface="Times New Roman"/>
              </a:rPr>
              <a:t>A </a:t>
            </a:r>
            <a:r>
              <a:rPr lang="hu-HU" sz="2600" dirty="0" err="1">
                <a:latin typeface="Times New Roman"/>
              </a:rPr>
              <a:t>with</a:t>
            </a:r>
            <a:r>
              <a:rPr lang="hu-HU" sz="2600" dirty="0">
                <a:latin typeface="Times New Roman"/>
              </a:rPr>
              <a:t> kulcsszó a </a:t>
            </a:r>
            <a:r>
              <a:rPr lang="hu-HU" sz="2600" b="1" dirty="0">
                <a:latin typeface="Times New Roman"/>
              </a:rPr>
              <a:t>kontextuskezelést</a:t>
            </a:r>
            <a:r>
              <a:rPr lang="hu-HU" sz="2600" dirty="0">
                <a:latin typeface="Times New Roman"/>
              </a:rPr>
              <a:t> végzi, azaz biztosítja, hogy a megfelelő erőforrások mindig rendben lezáruljanak a művelet végén, még </a:t>
            </a:r>
            <a:r>
              <a:rPr lang="hu-HU" sz="2600" u="sng" dirty="0">
                <a:latin typeface="Times New Roman"/>
              </a:rPr>
              <a:t>akkor is, ha hiba történik </a:t>
            </a:r>
            <a:r>
              <a:rPr lang="hu-HU" sz="2600" dirty="0">
                <a:latin typeface="Times New Roman"/>
              </a:rPr>
              <a:t>a művelet során.</a:t>
            </a:r>
          </a:p>
          <a:p>
            <a:pPr>
              <a:spcBef>
                <a:spcPts val="0"/>
              </a:spcBef>
            </a:pPr>
            <a:r>
              <a:rPr lang="hu-HU" sz="2600" dirty="0">
                <a:latin typeface="Times New Roman"/>
              </a:rPr>
              <a:t>Alkalmazásával elkerülhetjük az elfelejtett </a:t>
            </a:r>
            <a:r>
              <a:rPr lang="hu-HU" sz="2600" u="sng" dirty="0" err="1">
                <a:latin typeface="Times New Roman"/>
              </a:rPr>
              <a:t>close</a:t>
            </a:r>
            <a:r>
              <a:rPr lang="hu-HU" sz="2600" u="sng" dirty="0">
                <a:latin typeface="Times New Roman"/>
              </a:rPr>
              <a:t>() </a:t>
            </a:r>
            <a:r>
              <a:rPr lang="hu-HU" sz="2600" dirty="0">
                <a:latin typeface="Times New Roman"/>
              </a:rPr>
              <a:t>hívásokat. </a:t>
            </a:r>
            <a:endParaRPr lang="hu-H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DA5257B-B71C-5799-0AEF-21DD0504779C}"/>
              </a:ext>
            </a:extLst>
          </p:cNvPr>
          <p:cNvSpPr txBox="1"/>
          <p:nvPr/>
        </p:nvSpPr>
        <p:spPr>
          <a:xfrm>
            <a:off x="966951" y="1569815"/>
            <a:ext cx="73046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u-H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4.1. A </a:t>
            </a:r>
            <a:r>
              <a:rPr kumimoji="0" lang="hu-HU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with</a:t>
            </a:r>
            <a:r>
              <a:rPr kumimoji="0" lang="hu-H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kulcsszó alapvető működése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2579940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461938" cy="727951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4.4. </a:t>
            </a:r>
            <a:r>
              <a:rPr sz="3200" b="1" dirty="0" err="1">
                <a:latin typeface="Times New Roman"/>
              </a:rPr>
              <a:t>Több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fájl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kezelése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egyszerre</a:t>
            </a:r>
            <a:r>
              <a:rPr sz="3200" b="1" dirty="0">
                <a:latin typeface="Times New Roman"/>
              </a:rPr>
              <a:t> a with </a:t>
            </a:r>
            <a:r>
              <a:rPr sz="3200" b="1" dirty="0" err="1">
                <a:latin typeface="Times New Roman"/>
              </a:rPr>
              <a:t>kulcsszóval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145" y="1299671"/>
            <a:ext cx="9461938" cy="1253906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200" b="1" dirty="0"/>
              <a:t># </a:t>
            </a:r>
            <a:r>
              <a:rPr sz="2200" b="1" dirty="0" err="1"/>
              <a:t>Két</a:t>
            </a:r>
            <a:r>
              <a:rPr sz="2200" b="1" dirty="0"/>
              <a:t> </a:t>
            </a:r>
            <a:r>
              <a:rPr sz="2200" b="1" dirty="0" err="1"/>
              <a:t>fájl</a:t>
            </a:r>
            <a:r>
              <a:rPr sz="2200" b="1" dirty="0"/>
              <a:t> </a:t>
            </a:r>
            <a:r>
              <a:rPr sz="2200" b="1" dirty="0" err="1"/>
              <a:t>megnyitása</a:t>
            </a:r>
            <a:r>
              <a:rPr sz="2200" b="1" dirty="0"/>
              <a:t> </a:t>
            </a:r>
            <a:r>
              <a:rPr sz="2200" b="1" dirty="0" err="1"/>
              <a:t>egyszerre</a:t>
            </a:r>
            <a:r>
              <a:rPr sz="2200" b="1" dirty="0"/>
              <a:t>: </a:t>
            </a:r>
            <a:r>
              <a:rPr sz="2200" b="1" dirty="0" err="1"/>
              <a:t>egyik</a:t>
            </a:r>
            <a:r>
              <a:rPr sz="2200" b="1" dirty="0"/>
              <a:t> </a:t>
            </a:r>
            <a:r>
              <a:rPr sz="2200" b="1" dirty="0" err="1"/>
              <a:t>olvasásra</a:t>
            </a:r>
            <a:r>
              <a:rPr sz="2200" b="1" dirty="0"/>
              <a:t>, </a:t>
            </a:r>
            <a:r>
              <a:rPr sz="2200" b="1" dirty="0" err="1"/>
              <a:t>másik</a:t>
            </a:r>
            <a:r>
              <a:rPr sz="2200" b="1" dirty="0"/>
              <a:t> </a:t>
            </a:r>
            <a:r>
              <a:rPr sz="2200" b="1" dirty="0" err="1"/>
              <a:t>írásra</a:t>
            </a:r>
            <a:endParaRPr sz="2200" b="1" dirty="0"/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with open("forras.txt", "r") as </a:t>
            </a:r>
            <a:r>
              <a:rPr sz="2200" b="1" dirty="0" err="1"/>
              <a:t>forras_f</a:t>
            </a:r>
            <a:r>
              <a:rPr lang="hu-HU" sz="2200" b="1" dirty="0" err="1"/>
              <a:t>ile</a:t>
            </a:r>
            <a:r>
              <a:rPr sz="2200" b="1" dirty="0"/>
              <a:t>, open("cel.txt", "w") as cel_</a:t>
            </a:r>
            <a:r>
              <a:rPr lang="hu-HU" sz="2200" b="1" dirty="0"/>
              <a:t>file</a:t>
            </a:r>
            <a:r>
              <a:rPr sz="2200" b="1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for </a:t>
            </a:r>
            <a:r>
              <a:rPr sz="2200" b="1" dirty="0" err="1"/>
              <a:t>sor</a:t>
            </a:r>
            <a:r>
              <a:rPr sz="2200" b="1" dirty="0"/>
              <a:t> in </a:t>
            </a:r>
            <a:r>
              <a:rPr sz="2200" b="1" dirty="0" err="1"/>
              <a:t>forras</a:t>
            </a:r>
            <a:r>
              <a:rPr sz="2200" b="1" dirty="0"/>
              <a:t>_</a:t>
            </a:r>
            <a:r>
              <a:rPr lang="hu-HU" sz="2200" b="1" dirty="0"/>
              <a:t>file</a:t>
            </a:r>
            <a:r>
              <a:rPr sz="2200" b="1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sz="2200" b="1" dirty="0"/>
              <a:t>        </a:t>
            </a:r>
            <a:r>
              <a:rPr sz="2200" b="1" dirty="0" err="1"/>
              <a:t>cel_f</a:t>
            </a:r>
            <a:r>
              <a:rPr lang="hu-HU" sz="2200" b="1" dirty="0" err="1"/>
              <a:t>ile</a:t>
            </a:r>
            <a:r>
              <a:rPr sz="2200" b="1" dirty="0"/>
              <a:t>.write(</a:t>
            </a:r>
            <a:r>
              <a:rPr sz="2200" b="1" dirty="0" err="1"/>
              <a:t>sor</a:t>
            </a:r>
            <a:r>
              <a:rPr sz="2200" b="1" dirty="0"/>
              <a:t>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0D1920D-B525-B6AF-D54A-7D526175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16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BCD5A5E-65E2-BA90-539B-92702317C7D5}"/>
              </a:ext>
            </a:extLst>
          </p:cNvPr>
          <p:cNvSpPr txBox="1"/>
          <p:nvPr/>
        </p:nvSpPr>
        <p:spPr>
          <a:xfrm>
            <a:off x="860529" y="2630237"/>
            <a:ext cx="10657490" cy="81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with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szerkezet egyszerre több fájl kezelését teszi lehetővé, és automatikusan gondoskodik azok bezárásáról.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55CAFB0-FC7E-92D6-6FE0-0BD7F596D77A}"/>
              </a:ext>
            </a:extLst>
          </p:cNvPr>
          <p:cNvSpPr txBox="1"/>
          <p:nvPr/>
        </p:nvSpPr>
        <p:spPr>
          <a:xfrm>
            <a:off x="838200" y="3791551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u-H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4.5. A </a:t>
            </a:r>
            <a:r>
              <a:rPr kumimoji="0" lang="hu-HU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with</a:t>
            </a:r>
            <a:r>
              <a:rPr kumimoji="0" lang="hu-H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kulcsszó működése a háttérben</a:t>
            </a:r>
            <a:endParaRPr lang="hu-HU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E5D242EB-C00F-E1DC-6406-BEDFF75327D6}"/>
              </a:ext>
            </a:extLst>
          </p:cNvPr>
          <p:cNvSpPr txBox="1"/>
          <p:nvPr/>
        </p:nvSpPr>
        <p:spPr>
          <a:xfrm>
            <a:off x="1569982" y="4447773"/>
            <a:ext cx="9402817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  <a:defRPr/>
            </a:pP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0" lang="hu-HU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with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kulcsszó a háttérben két metódust használ:</a:t>
            </a:r>
          </a:p>
          <a:p>
            <a:pPr marL="793750" marR="0" lvl="0" algn="l" defTabSz="914400" rtl="0" eaLnBrk="1" fontAlgn="auto" latinLnBrk="0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  <a:defRPr/>
            </a:pP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__enter__() 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-  Felelős az </a:t>
            </a:r>
            <a:r>
              <a:rPr kumimoji="0" lang="hu-HU" sz="2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erőforrás megnyitásáért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</a:p>
          <a:p>
            <a:pPr marL="793750" marR="0" lvl="0" algn="l" defTabSz="914400" rtl="0" eaLnBrk="1" fontAlgn="auto" latinLnBrk="0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  <a:defRPr/>
            </a:pP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__</a:t>
            </a:r>
            <a:r>
              <a:rPr kumimoji="0" lang="hu-H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exit</a:t>
            </a:r>
            <a:r>
              <a:rPr kumimoji="0" lang="hu-HU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__() 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-  Gondoskodik az </a:t>
            </a:r>
            <a:r>
              <a:rPr kumimoji="0" lang="hu-HU" sz="2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erőforrás bezárásáról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Ez biztosítja, hogy a fájlok mindig lezáródjanak a </a:t>
            </a:r>
            <a:r>
              <a:rPr kumimoji="0" lang="hu-HU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with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blokk végén.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7630886" cy="756104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5.4. </a:t>
            </a:r>
            <a:r>
              <a:rPr sz="3200" b="1" dirty="0">
                <a:latin typeface="Times New Roman"/>
              </a:rPr>
              <a:t>JSON </a:t>
            </a:r>
            <a:r>
              <a:rPr sz="3200" b="1" dirty="0" err="1">
                <a:latin typeface="Times New Roman"/>
              </a:rPr>
              <a:t>szöveg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kezelése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Pythonban</a:t>
            </a:r>
            <a:endParaRPr sz="3200" b="1" dirty="0">
              <a:latin typeface="Times New Roman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99FDE1B-57A7-E106-637E-04C9E7B5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17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24E8315-8270-A7A8-A7C3-034CE3271BE4}"/>
              </a:ext>
            </a:extLst>
          </p:cNvPr>
          <p:cNvSpPr txBox="1"/>
          <p:nvPr/>
        </p:nvSpPr>
        <p:spPr>
          <a:xfrm>
            <a:off x="838200" y="4111433"/>
            <a:ext cx="1090748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json.loads</a:t>
            </a:r>
            <a:r>
              <a:rPr lang="hu-H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függvény JSON szöveget Python objektummá (</a:t>
            </a:r>
            <a:r>
              <a:rPr lang="hu-HU" sz="26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alakít.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76AC929-FD4B-802A-A6A2-D90C64EB13F9}"/>
              </a:ext>
            </a:extLst>
          </p:cNvPr>
          <p:cNvSpPr txBox="1"/>
          <p:nvPr/>
        </p:nvSpPr>
        <p:spPr>
          <a:xfrm>
            <a:off x="1605643" y="1385225"/>
            <a:ext cx="9922328" cy="24622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 dirty="0"/>
              <a:t>import </a:t>
            </a:r>
            <a:r>
              <a:rPr lang="hu-HU" sz="2200" b="1" dirty="0" err="1"/>
              <a:t>json</a:t>
            </a:r>
            <a:endParaRPr lang="hu-HU" sz="2200" b="1" dirty="0"/>
          </a:p>
          <a:p>
            <a:r>
              <a:rPr lang="hu-HU" sz="2200" b="1" dirty="0"/>
              <a:t># JSON formátumú szöveg</a:t>
            </a:r>
          </a:p>
          <a:p>
            <a:r>
              <a:rPr lang="hu-HU" sz="2200" b="1" dirty="0" err="1"/>
              <a:t>jsondata</a:t>
            </a:r>
            <a:r>
              <a:rPr lang="hu-HU" sz="2200" b="1" dirty="0"/>
              <a:t> = '{"</a:t>
            </a:r>
            <a:r>
              <a:rPr lang="hu-HU" sz="2200" b="1" dirty="0" err="1"/>
              <a:t>name</a:t>
            </a:r>
            <a:r>
              <a:rPr lang="hu-HU" sz="2200" b="1" dirty="0"/>
              <a:t>": "Sir Robin", "</a:t>
            </a:r>
            <a:r>
              <a:rPr lang="hu-HU" sz="2200" b="1" dirty="0" err="1"/>
              <a:t>age</a:t>
            </a:r>
            <a:r>
              <a:rPr lang="hu-HU" sz="2200" b="1" dirty="0"/>
              <a:t>": 25, "</a:t>
            </a:r>
            <a:r>
              <a:rPr lang="hu-HU" sz="2200" b="1" dirty="0" err="1"/>
              <a:t>job</a:t>
            </a:r>
            <a:r>
              <a:rPr lang="hu-HU" sz="2200" b="1" dirty="0"/>
              <a:t>": ["</a:t>
            </a:r>
            <a:r>
              <a:rPr lang="hu-HU" sz="2200" b="1" dirty="0" err="1"/>
              <a:t>brave</a:t>
            </a:r>
            <a:r>
              <a:rPr lang="hu-HU" sz="2200" b="1" dirty="0"/>
              <a:t>", "</a:t>
            </a:r>
            <a:r>
              <a:rPr lang="hu-HU" sz="2200" b="1" dirty="0" err="1"/>
              <a:t>running</a:t>
            </a:r>
            <a:r>
              <a:rPr lang="hu-HU" sz="2200" b="1" dirty="0"/>
              <a:t>", "</a:t>
            </a:r>
            <a:r>
              <a:rPr lang="hu-HU" sz="2200" b="1" dirty="0" err="1"/>
              <a:t>fight</a:t>
            </a:r>
            <a:r>
              <a:rPr lang="hu-HU" sz="2200" b="1" dirty="0"/>
              <a:t>"]}'</a:t>
            </a:r>
          </a:p>
          <a:p>
            <a:endParaRPr lang="hu-HU" sz="2200" b="1" dirty="0"/>
          </a:p>
          <a:p>
            <a:r>
              <a:rPr lang="hu-HU" sz="2200" b="1" dirty="0" err="1"/>
              <a:t>data</a:t>
            </a:r>
            <a:r>
              <a:rPr lang="hu-HU" sz="2200" b="1" dirty="0"/>
              <a:t> = </a:t>
            </a:r>
            <a:r>
              <a:rPr lang="hu-HU" sz="2200" b="1" dirty="0" err="1"/>
              <a:t>json.loads</a:t>
            </a:r>
            <a:r>
              <a:rPr lang="hu-HU" sz="2200" b="1" dirty="0"/>
              <a:t>(</a:t>
            </a:r>
            <a:r>
              <a:rPr lang="hu-HU" sz="2200" b="1" dirty="0" err="1"/>
              <a:t>jsondata</a:t>
            </a:r>
            <a:r>
              <a:rPr lang="hu-HU" sz="2200" b="1" dirty="0"/>
              <a:t>)</a:t>
            </a:r>
          </a:p>
          <a:p>
            <a:r>
              <a:rPr lang="hu-HU" sz="2200" b="1" dirty="0"/>
              <a:t>print(</a:t>
            </a:r>
            <a:r>
              <a:rPr lang="hu-HU" sz="2200" b="1" dirty="0" err="1"/>
              <a:t>data</a:t>
            </a:r>
            <a:r>
              <a:rPr lang="hu-HU" sz="2200" b="1" dirty="0"/>
              <a:t>)</a:t>
            </a:r>
          </a:p>
          <a:p>
            <a:endParaRPr lang="hu-HU" sz="2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979979" cy="738461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6.1. </a:t>
            </a:r>
            <a:r>
              <a:rPr sz="3200" b="1" dirty="0" err="1">
                <a:latin typeface="Times New Roman"/>
              </a:rPr>
              <a:t>Bináris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fájlok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6985" y="3830583"/>
            <a:ext cx="6382407" cy="2662292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sz="2200" b="1" dirty="0"/>
              <a:t># </a:t>
            </a:r>
            <a:r>
              <a:rPr sz="2200" b="1" dirty="0" err="1"/>
              <a:t>Kép</a:t>
            </a:r>
            <a:r>
              <a:rPr sz="2200" b="1" dirty="0"/>
              <a:t> </a:t>
            </a:r>
            <a:r>
              <a:rPr sz="2200" b="1" dirty="0" err="1"/>
              <a:t>másolása</a:t>
            </a:r>
            <a:r>
              <a:rPr sz="2200" b="1" dirty="0"/>
              <a:t> </a:t>
            </a:r>
            <a:r>
              <a:rPr sz="2200" b="1" dirty="0" err="1"/>
              <a:t>bináris</a:t>
            </a:r>
            <a:r>
              <a:rPr sz="2200" b="1" dirty="0"/>
              <a:t> </a:t>
            </a:r>
            <a:r>
              <a:rPr sz="2200" b="1" dirty="0" err="1"/>
              <a:t>módban</a:t>
            </a:r>
            <a:endParaRPr sz="2200" b="1" dirty="0"/>
          </a:p>
          <a:p>
            <a:pPr marL="0" indent="0">
              <a:buNone/>
            </a:pPr>
            <a:r>
              <a:rPr sz="2200" b="1" dirty="0"/>
              <a:t>with open("forras.jpg", "</a:t>
            </a:r>
            <a:r>
              <a:rPr sz="2200" b="1" dirty="0" err="1"/>
              <a:t>rb</a:t>
            </a:r>
            <a:r>
              <a:rPr sz="2200" b="1" dirty="0"/>
              <a:t>") as </a:t>
            </a:r>
            <a:r>
              <a:rPr sz="2200" b="1" dirty="0" err="1"/>
              <a:t>forras</a:t>
            </a:r>
            <a:r>
              <a:rPr sz="2200" b="1" dirty="0"/>
              <a:t>:</a:t>
            </a:r>
          </a:p>
          <a:p>
            <a:pPr marL="0" indent="0">
              <a:buNone/>
            </a:pPr>
            <a:r>
              <a:rPr sz="2200" b="1" dirty="0"/>
              <a:t>    </a:t>
            </a:r>
            <a:r>
              <a:rPr sz="2200" b="1" dirty="0" err="1"/>
              <a:t>tartalom</a:t>
            </a:r>
            <a:r>
              <a:rPr sz="2200" b="1" dirty="0"/>
              <a:t> = </a:t>
            </a:r>
            <a:r>
              <a:rPr sz="2200" b="1" dirty="0" err="1"/>
              <a:t>forras.read</a:t>
            </a:r>
            <a:r>
              <a:rPr sz="2200" b="1" dirty="0"/>
              <a:t>()</a:t>
            </a:r>
          </a:p>
          <a:p>
            <a:pPr marL="0" indent="0">
              <a:buNone/>
            </a:pPr>
            <a:endParaRPr sz="2200" b="1" dirty="0"/>
          </a:p>
          <a:p>
            <a:pPr marL="0" indent="0">
              <a:buNone/>
            </a:pPr>
            <a:r>
              <a:rPr sz="2200" b="1" dirty="0"/>
              <a:t>with open("masolat.jpg", "</a:t>
            </a:r>
            <a:r>
              <a:rPr sz="2200" b="1" dirty="0" err="1"/>
              <a:t>wb</a:t>
            </a:r>
            <a:r>
              <a:rPr sz="2200" b="1" dirty="0"/>
              <a:t>") as </a:t>
            </a:r>
            <a:r>
              <a:rPr sz="2200" b="1" dirty="0" err="1"/>
              <a:t>masolat</a:t>
            </a:r>
            <a:r>
              <a:rPr sz="2200" b="1" dirty="0"/>
              <a:t>:</a:t>
            </a:r>
          </a:p>
          <a:p>
            <a:pPr marL="0" indent="0">
              <a:buNone/>
            </a:pPr>
            <a:r>
              <a:rPr sz="2200" b="1" dirty="0"/>
              <a:t>    </a:t>
            </a:r>
            <a:r>
              <a:rPr sz="2200" b="1" dirty="0" err="1"/>
              <a:t>masolat.write</a:t>
            </a:r>
            <a:r>
              <a:rPr sz="2200" b="1" dirty="0"/>
              <a:t>(</a:t>
            </a:r>
            <a:r>
              <a:rPr sz="2200" b="1" dirty="0" err="1"/>
              <a:t>tartalom</a:t>
            </a:r>
            <a:r>
              <a:rPr sz="2200" b="1" dirty="0"/>
              <a:t>)</a:t>
            </a:r>
          </a:p>
          <a:p>
            <a:pPr marL="0" indent="0">
              <a:buNone/>
            </a:pPr>
            <a:endParaRPr sz="2200" b="1" dirty="0"/>
          </a:p>
          <a:p>
            <a:endParaRPr sz="1800" b="1" dirty="0">
              <a:latin typeface="Aptos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6172C7-74F4-97D6-7BDB-EDF23FBC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18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BA84605-B0F9-6747-D1DF-61D204861537}"/>
              </a:ext>
            </a:extLst>
          </p:cNvPr>
          <p:cNvSpPr txBox="1"/>
          <p:nvPr/>
        </p:nvSpPr>
        <p:spPr>
          <a:xfrm>
            <a:off x="1051034" y="1103586"/>
            <a:ext cx="971155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778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bináris fájlok </a:t>
            </a:r>
            <a:r>
              <a:rPr lang="hu-HU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bináris formátumban 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tárolják az adatokat. </a:t>
            </a:r>
          </a:p>
          <a:p>
            <a:pPr marL="457200" indent="-2778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Ilyen fájlok lehetnek például </a:t>
            </a:r>
            <a:r>
              <a:rPr lang="hu-HU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képek, hangfájlok, videók 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vagy egyéb adatformátumok, amelyek </a:t>
            </a:r>
            <a:r>
              <a:rPr lang="hu-HU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 olvashatók egyszerűen szövegként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27781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bináris fájlokat </a:t>
            </a:r>
            <a:r>
              <a:rPr lang="hu-H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hu-H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hu-H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hu-H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wb</a:t>
            </a:r>
            <a:r>
              <a:rPr lang="hu-H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módban kezelhetjük Pythonban.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55699FD-0246-7395-3A1E-45BD4A88E58E}"/>
              </a:ext>
            </a:extLst>
          </p:cNvPr>
          <p:cNvSpPr txBox="1"/>
          <p:nvPr/>
        </p:nvSpPr>
        <p:spPr>
          <a:xfrm>
            <a:off x="838200" y="3239717"/>
            <a:ext cx="6096000" cy="49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Példa: Kép másolása bináris módban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492062" cy="601827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6.2. </a:t>
            </a:r>
            <a:r>
              <a:rPr sz="3200" b="1" dirty="0">
                <a:latin typeface="Times New Roman"/>
              </a:rPr>
              <a:t>XML </a:t>
            </a:r>
            <a:r>
              <a:rPr sz="3200" b="1" dirty="0" err="1">
                <a:latin typeface="Times New Roman"/>
              </a:rPr>
              <a:t>fájlok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583" y="4318953"/>
            <a:ext cx="5626976" cy="203739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2100" b="1" dirty="0"/>
              <a:t>import </a:t>
            </a:r>
            <a:r>
              <a:rPr sz="2100" b="1" dirty="0" err="1"/>
              <a:t>xml.etree.ElementTree</a:t>
            </a:r>
            <a:r>
              <a:rPr sz="2100" b="1" dirty="0"/>
              <a:t> as 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100" b="1" dirty="0" err="1"/>
              <a:t>tree</a:t>
            </a:r>
            <a:r>
              <a:rPr sz="2100" b="1" dirty="0"/>
              <a:t> = </a:t>
            </a:r>
            <a:r>
              <a:rPr sz="2100" b="1" dirty="0" err="1"/>
              <a:t>ET.parse</a:t>
            </a:r>
            <a:r>
              <a:rPr sz="2100" b="1" dirty="0"/>
              <a:t>("adatok.xml")</a:t>
            </a:r>
            <a:r>
              <a:rPr lang="hu-HU" sz="2100" b="1" dirty="0"/>
              <a:t>          #beolvasás</a:t>
            </a:r>
            <a:endParaRPr sz="21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2100" b="1" dirty="0" err="1"/>
              <a:t>gyoker</a:t>
            </a:r>
            <a:r>
              <a:rPr sz="2100" b="1" dirty="0"/>
              <a:t> = </a:t>
            </a:r>
            <a:r>
              <a:rPr lang="hu-HU" sz="2100" b="1" dirty="0" err="1"/>
              <a:t>tree</a:t>
            </a:r>
            <a:r>
              <a:rPr sz="2100" b="1" dirty="0"/>
              <a:t>.</a:t>
            </a:r>
            <a:r>
              <a:rPr sz="2100" b="1" dirty="0" err="1"/>
              <a:t>getroot</a:t>
            </a:r>
            <a:r>
              <a:rPr sz="2100" b="1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2100" b="1" dirty="0"/>
              <a:t>for </a:t>
            </a:r>
            <a:r>
              <a:rPr sz="2100" b="1" dirty="0" err="1"/>
              <a:t>elem</a:t>
            </a:r>
            <a:r>
              <a:rPr sz="2100" b="1" dirty="0"/>
              <a:t> in </a:t>
            </a:r>
            <a:r>
              <a:rPr lang="hu-HU" sz="2100" b="1" dirty="0" err="1"/>
              <a:t>root</a:t>
            </a:r>
            <a:r>
              <a:rPr sz="2100" b="1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2100" b="1" dirty="0"/>
              <a:t>    print(</a:t>
            </a:r>
            <a:r>
              <a:rPr sz="2100" b="1" dirty="0" err="1"/>
              <a:t>elem.tag</a:t>
            </a:r>
            <a:r>
              <a:rPr sz="2100" b="1" dirty="0"/>
              <a:t>, </a:t>
            </a:r>
            <a:r>
              <a:rPr sz="2100" b="1" dirty="0" err="1"/>
              <a:t>elem.attrib</a:t>
            </a:r>
            <a:r>
              <a:rPr sz="2100" b="1" dirty="0"/>
              <a:t>, </a:t>
            </a:r>
            <a:r>
              <a:rPr sz="2100" b="1" dirty="0" err="1"/>
              <a:t>elem.text</a:t>
            </a:r>
            <a:r>
              <a:rPr sz="2100" b="1" dirty="0"/>
              <a:t>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9A2AD0C-D5A7-3470-890D-CE519017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19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BDF9C03-10A4-A9EC-74F8-4E6F05952EB1}"/>
              </a:ext>
            </a:extLst>
          </p:cNvPr>
          <p:cNvSpPr txBox="1"/>
          <p:nvPr/>
        </p:nvSpPr>
        <p:spPr>
          <a:xfrm>
            <a:off x="756744" y="979041"/>
            <a:ext cx="10597056" cy="276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77813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Az XML (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Extensible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Markup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Language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egy másik elterjedt fájlformátum, amelyet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strukturált adatok tárolására 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használnak. </a:t>
            </a:r>
          </a:p>
          <a:p>
            <a:pPr marL="457200" indent="-277813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Az XML hasonló a JSON-hoz, de inkább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hierarchikus adatstruktúrákhoz 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használják, és gyakran találkozhatunk vele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webes alkalmazásokban 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vagy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konfigurációs fájlokban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277813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6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Pythonban az </a:t>
            </a:r>
            <a:r>
              <a:rPr lang="hu-HU" sz="26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xml.etree.ElementTree</a:t>
            </a:r>
            <a:r>
              <a:rPr lang="hu-HU" sz="26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6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modul segítségével könnyen olvashatunk és írhatunk XML fájlokat.</a:t>
            </a:r>
            <a:endParaRPr lang="hu-H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8547894-5850-5134-6833-52881F90B4E1}"/>
              </a:ext>
            </a:extLst>
          </p:cNvPr>
          <p:cNvSpPr txBox="1"/>
          <p:nvPr/>
        </p:nvSpPr>
        <p:spPr>
          <a:xfrm>
            <a:off x="901260" y="3827344"/>
            <a:ext cx="6096000" cy="49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Példa: XML fájl beolvasása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2DD5DAC-550D-5260-553C-B079034015AC}"/>
              </a:ext>
            </a:extLst>
          </p:cNvPr>
          <p:cNvSpPr txBox="1"/>
          <p:nvPr/>
        </p:nvSpPr>
        <p:spPr>
          <a:xfrm>
            <a:off x="6831724" y="4400345"/>
            <a:ext cx="4971393" cy="177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Itt az adatok.xml fájlt beolvassuk, majd </a:t>
            </a:r>
            <a:r>
              <a:rPr lang="hu-HU" sz="2600" u="sng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végigiterálunk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 gyökérelem elemein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hogy </a:t>
            </a:r>
            <a:r>
              <a:rPr lang="hu-HU" sz="2600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kiírjuk azok címkéit, attribútumait és szöveges tartalmát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6371897" cy="896116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6.3. </a:t>
            </a:r>
            <a:r>
              <a:rPr sz="3200" b="1" dirty="0">
                <a:latin typeface="Times New Roman"/>
              </a:rPr>
              <a:t>Microsoft Excel </a:t>
            </a:r>
            <a:r>
              <a:rPr sz="3200" b="1" dirty="0" err="1">
                <a:latin typeface="Times New Roman"/>
              </a:rPr>
              <a:t>fájlok</a:t>
            </a:r>
            <a:r>
              <a:rPr sz="3200" b="1" dirty="0">
                <a:latin typeface="Times New Roman"/>
              </a:rPr>
              <a:t> (XLSX)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4228" y="5115234"/>
            <a:ext cx="9178159" cy="7286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600" dirty="0">
                <a:latin typeface="Times New Roman"/>
              </a:rPr>
              <a:t>A </a:t>
            </a:r>
            <a:r>
              <a:rPr sz="2600" b="1" dirty="0">
                <a:latin typeface="Times New Roman"/>
              </a:rPr>
              <a:t>pandas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könyvtár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és</a:t>
            </a:r>
            <a:r>
              <a:rPr sz="2600" dirty="0">
                <a:latin typeface="Times New Roman"/>
              </a:rPr>
              <a:t> a </a:t>
            </a:r>
            <a:r>
              <a:rPr sz="2600" b="1" dirty="0" err="1">
                <a:latin typeface="Times New Roman"/>
              </a:rPr>
              <a:t>pd.read_excel</a:t>
            </a:r>
            <a:r>
              <a:rPr sz="2600" b="1" dirty="0">
                <a:latin typeface="Times New Roman"/>
              </a:rPr>
              <a:t>() </a:t>
            </a:r>
            <a:r>
              <a:rPr sz="2600" dirty="0" err="1">
                <a:latin typeface="Times New Roman"/>
              </a:rPr>
              <a:t>függvény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segítségével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beolvashatjuk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az</a:t>
            </a:r>
            <a:r>
              <a:rPr sz="2600" dirty="0">
                <a:latin typeface="Times New Roman"/>
              </a:rPr>
              <a:t> Excel </a:t>
            </a:r>
            <a:r>
              <a:rPr sz="2600" dirty="0" err="1">
                <a:latin typeface="Times New Roman"/>
              </a:rPr>
              <a:t>fájlokat</a:t>
            </a:r>
            <a:r>
              <a:rPr sz="2600" dirty="0">
                <a:latin typeface="Times New Roman"/>
              </a:rPr>
              <a:t>.</a:t>
            </a:r>
          </a:p>
          <a:p>
            <a:endParaRPr sz="2600" dirty="0">
              <a:latin typeface="Times New Roman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751B780-BFC4-4571-C885-1CDCF2CB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20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761B599-FA55-A01F-A50E-8A99DD96ED03}"/>
              </a:ext>
            </a:extLst>
          </p:cNvPr>
          <p:cNvSpPr txBox="1"/>
          <p:nvPr/>
        </p:nvSpPr>
        <p:spPr>
          <a:xfrm>
            <a:off x="1374228" y="1100134"/>
            <a:ext cx="10817772" cy="134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Microsoft Excel fájlok (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xlsx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kezelésére a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pandas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és az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openpyxl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könyvtárak használatosak Pythonban, amelyek lehetővé teszik Excel </a:t>
            </a:r>
            <a:b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táblázatok olvasását és írását.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89D0C06-497F-3178-FCA1-ACE30FD31194}"/>
              </a:ext>
            </a:extLst>
          </p:cNvPr>
          <p:cNvSpPr txBox="1"/>
          <p:nvPr/>
        </p:nvSpPr>
        <p:spPr>
          <a:xfrm>
            <a:off x="2039007" y="3242154"/>
            <a:ext cx="7178566" cy="15234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hu-HU" sz="2200" b="1" dirty="0"/>
              <a:t>import </a:t>
            </a:r>
            <a:r>
              <a:rPr lang="hu-HU" sz="2200" b="1" dirty="0" err="1"/>
              <a:t>pandas</a:t>
            </a:r>
            <a:r>
              <a:rPr lang="hu-HU" sz="2200" b="1" dirty="0"/>
              <a:t> </a:t>
            </a:r>
            <a:r>
              <a:rPr lang="hu-HU" sz="2200" b="1" dirty="0" err="1"/>
              <a:t>as</a:t>
            </a:r>
            <a:r>
              <a:rPr lang="hu-HU" sz="2200" b="1" dirty="0"/>
              <a:t> </a:t>
            </a:r>
            <a:r>
              <a:rPr lang="hu-HU" sz="2200" b="1" dirty="0" err="1"/>
              <a:t>pd</a:t>
            </a:r>
            <a:endParaRPr lang="hu-HU" sz="2200" b="1" dirty="0"/>
          </a:p>
          <a:p>
            <a:r>
              <a:rPr lang="hu-HU" sz="2200" b="1" dirty="0"/>
              <a:t># Excel fájl beolvasása</a:t>
            </a:r>
          </a:p>
          <a:p>
            <a:r>
              <a:rPr lang="hu-HU" sz="2200" b="1" dirty="0"/>
              <a:t>adatok = </a:t>
            </a:r>
            <a:r>
              <a:rPr lang="hu-HU" sz="2200" b="1" dirty="0" err="1"/>
              <a:t>pd.read_excel</a:t>
            </a:r>
            <a:r>
              <a:rPr lang="hu-HU" sz="2200" b="1" dirty="0"/>
              <a:t>("adatok.xlsx")          #beolvasás</a:t>
            </a:r>
          </a:p>
          <a:p>
            <a:r>
              <a:rPr lang="hu-HU" sz="2200" b="1" dirty="0"/>
              <a:t>print(adatok)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A11002F-896F-C5EF-A851-712A866381AF}"/>
              </a:ext>
            </a:extLst>
          </p:cNvPr>
          <p:cNvSpPr txBox="1"/>
          <p:nvPr/>
        </p:nvSpPr>
        <p:spPr>
          <a:xfrm>
            <a:off x="773824" y="2601708"/>
            <a:ext cx="7403224" cy="49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Példa: Excel fájl beolvasása a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pandas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segítségével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597166" cy="769992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6.4. </a:t>
            </a:r>
            <a:r>
              <a:rPr sz="3200" b="1" dirty="0">
                <a:latin typeface="Times New Roman"/>
              </a:rPr>
              <a:t>PDF </a:t>
            </a:r>
            <a:r>
              <a:rPr sz="3200" b="1" dirty="0" err="1">
                <a:latin typeface="Times New Roman"/>
              </a:rPr>
              <a:t>fájlok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056" y="5451506"/>
            <a:ext cx="10436772" cy="1041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600" dirty="0">
                <a:latin typeface="Times New Roman"/>
              </a:rPr>
              <a:t>A </a:t>
            </a:r>
            <a:r>
              <a:rPr lang="hu-HU" sz="2600" b="1" dirty="0" err="1">
                <a:latin typeface="Times New Roman"/>
              </a:rPr>
              <a:t>PdfReader</a:t>
            </a:r>
            <a:r>
              <a:rPr lang="hu-HU" sz="2600" b="1" dirty="0">
                <a:latin typeface="Times New Roman"/>
              </a:rPr>
              <a:t>() </a:t>
            </a:r>
            <a:r>
              <a:rPr lang="hu-HU" sz="2600" dirty="0">
                <a:latin typeface="Times New Roman"/>
              </a:rPr>
              <a:t>metódus segítségével a dokumentum.pdf első oldalának szövegét olvashatjuk ki.</a:t>
            </a:r>
          </a:p>
          <a:p>
            <a:pPr marL="0" indent="0">
              <a:buNone/>
            </a:pPr>
            <a:endParaRPr sz="2600" dirty="0">
              <a:latin typeface="Times New Roman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44A30F7-7AE7-C523-D84F-27012F7E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21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E362FB41-D3C1-11A6-A8EA-F347A5C748DB}"/>
              </a:ext>
            </a:extLst>
          </p:cNvPr>
          <p:cNvSpPr txBox="1"/>
          <p:nvPr/>
        </p:nvSpPr>
        <p:spPr>
          <a:xfrm>
            <a:off x="1072056" y="1012410"/>
            <a:ext cx="10515600" cy="117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PDF fájlok kezelése Pythonban az </a:t>
            </a: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PyPDF2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vagy a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pdfplumber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könyvtárakkal lehetséges, amelyek lehetővé teszik a PDF dokumentumok olvasását és szövegük kinyerését.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1492CDF-3A5E-2BA1-AEDB-03A8434221CE}"/>
              </a:ext>
            </a:extLst>
          </p:cNvPr>
          <p:cNvSpPr txBox="1"/>
          <p:nvPr/>
        </p:nvSpPr>
        <p:spPr>
          <a:xfrm>
            <a:off x="1901058" y="2924368"/>
            <a:ext cx="8714389" cy="22006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hu-HU" sz="2200" b="1" dirty="0"/>
              <a:t>import PyPDF2</a:t>
            </a:r>
          </a:p>
          <a:p>
            <a:endParaRPr lang="hu-HU" sz="2200" b="1" dirty="0"/>
          </a:p>
          <a:p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open</a:t>
            </a:r>
            <a:r>
              <a:rPr lang="hu-HU" sz="2200" b="1" dirty="0"/>
              <a:t>("dokumentum.pdf", "</a:t>
            </a:r>
            <a:r>
              <a:rPr lang="hu-HU" sz="2200" b="1" dirty="0" err="1"/>
              <a:t>rb</a:t>
            </a:r>
            <a:r>
              <a:rPr lang="hu-HU" sz="2200" b="1" dirty="0"/>
              <a:t>") </a:t>
            </a:r>
            <a:r>
              <a:rPr lang="hu-HU" sz="2200" b="1" dirty="0" err="1"/>
              <a:t>as</a:t>
            </a:r>
            <a:r>
              <a:rPr lang="hu-HU" sz="2200" b="1" dirty="0"/>
              <a:t> pdf:     #bináris olvasási mód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reader</a:t>
            </a:r>
            <a:r>
              <a:rPr lang="hu-HU" sz="2200" b="1" dirty="0"/>
              <a:t> = PyPDF2.PdfReader(pdf)</a:t>
            </a:r>
          </a:p>
          <a:p>
            <a:r>
              <a:rPr lang="hu-HU" sz="2200" b="1" dirty="0"/>
              <a:t>    </a:t>
            </a:r>
            <a:r>
              <a:rPr lang="hu-HU" sz="2200" b="1" dirty="0" err="1"/>
              <a:t>first_page</a:t>
            </a:r>
            <a:r>
              <a:rPr lang="hu-HU" sz="2200" b="1" dirty="0"/>
              <a:t> = </a:t>
            </a:r>
            <a:r>
              <a:rPr lang="hu-HU" sz="2200" b="1" dirty="0" err="1"/>
              <a:t>olvaso.pages</a:t>
            </a:r>
            <a:r>
              <a:rPr lang="hu-HU" sz="2200" b="1" dirty="0"/>
              <a:t>[0]</a:t>
            </a:r>
          </a:p>
          <a:p>
            <a:r>
              <a:rPr lang="hu-HU" sz="2200" b="1" dirty="0"/>
              <a:t>    print(</a:t>
            </a:r>
            <a:r>
              <a:rPr lang="hu-HU" sz="2200" b="1" dirty="0" err="1"/>
              <a:t>first_page.extract_text</a:t>
            </a:r>
            <a:r>
              <a:rPr lang="hu-HU" sz="2200" b="1" dirty="0"/>
              <a:t>())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7FA569E-F26A-E14B-082D-8F6BAF724F53}"/>
              </a:ext>
            </a:extLst>
          </p:cNvPr>
          <p:cNvSpPr txBox="1"/>
          <p:nvPr/>
        </p:nvSpPr>
        <p:spPr>
          <a:xfrm>
            <a:off x="838200" y="2418728"/>
            <a:ext cx="8169166" cy="49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Példa: PDF szöveg kinyerése a PyPDF2 segítségével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562600" cy="717441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6.6. </a:t>
            </a:r>
            <a:r>
              <a:rPr sz="3200" b="1" dirty="0" err="1">
                <a:latin typeface="Times New Roman"/>
              </a:rPr>
              <a:t>Hangfájlok</a:t>
            </a:r>
            <a:r>
              <a:rPr sz="3200" b="1" dirty="0">
                <a:latin typeface="Times New Roman"/>
              </a:rPr>
              <a:t> (MP3, WAV)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17253"/>
            <a:ext cx="10515600" cy="1275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600" dirty="0">
                <a:latin typeface="Times New Roman"/>
              </a:rPr>
              <a:t>A </a:t>
            </a:r>
            <a:r>
              <a:rPr sz="2600" u="sng" dirty="0">
                <a:latin typeface="Times New Roman"/>
              </a:rPr>
              <a:t>wave </a:t>
            </a:r>
            <a:r>
              <a:rPr sz="2600" u="sng" dirty="0" err="1">
                <a:latin typeface="Times New Roman"/>
              </a:rPr>
              <a:t>modul</a:t>
            </a:r>
            <a:r>
              <a:rPr sz="2600" u="sng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lehetővé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teszi</a:t>
            </a:r>
            <a:r>
              <a:rPr sz="2600" dirty="0">
                <a:latin typeface="Times New Roman"/>
              </a:rPr>
              <a:t> a </a:t>
            </a:r>
            <a:r>
              <a:rPr sz="2600" u="sng" dirty="0">
                <a:latin typeface="Times New Roman"/>
              </a:rPr>
              <a:t>WAV </a:t>
            </a:r>
            <a:r>
              <a:rPr sz="2600" u="sng" dirty="0" err="1">
                <a:latin typeface="Times New Roman"/>
              </a:rPr>
              <a:t>hangfájlok</a:t>
            </a:r>
            <a:r>
              <a:rPr sz="2600" u="sng" dirty="0">
                <a:latin typeface="Times New Roman"/>
              </a:rPr>
              <a:t> </a:t>
            </a:r>
            <a:r>
              <a:rPr sz="2600" u="sng" dirty="0" err="1">
                <a:latin typeface="Times New Roman"/>
              </a:rPr>
              <a:t>beolvasását</a:t>
            </a:r>
            <a:r>
              <a:rPr sz="2600" u="sng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és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jellemzőik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elérését</a:t>
            </a:r>
            <a:r>
              <a:rPr sz="2600" dirty="0">
                <a:latin typeface="Times New Roman"/>
              </a:rPr>
              <a:t>.</a:t>
            </a:r>
            <a:r>
              <a:rPr lang="hu-HU" sz="2600" dirty="0">
                <a:latin typeface="Times New Roman"/>
              </a:rPr>
              <a:t> Ez a kód a hang.wav fájlt beolvassa, és kiírja a csatornák számát, mintavételezési frekvenciát, és a hangfájl hosszát másodpercekben.</a:t>
            </a:r>
          </a:p>
          <a:p>
            <a:pPr marL="0" indent="0">
              <a:buNone/>
            </a:pPr>
            <a:endParaRPr sz="2600" dirty="0">
              <a:latin typeface="Times New Roman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9C77B47-952D-8DC7-68E5-DE9A79D1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22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EBAEAA01-6EE2-7172-983D-261BAD76C100}"/>
              </a:ext>
            </a:extLst>
          </p:cNvPr>
          <p:cNvSpPr txBox="1"/>
          <p:nvPr/>
        </p:nvSpPr>
        <p:spPr>
          <a:xfrm>
            <a:off x="838199" y="1082566"/>
            <a:ext cx="10775731" cy="117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Hangfájlok (pl. MP3, WAV) kezelésére Pythonban az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pydub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és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wave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modulok használhatók. Ezek lehetővé teszik a hangfájlok betöltését, átalakítását és lejátszását.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7AAF743-B681-24FD-88B0-89B0E2488C36}"/>
              </a:ext>
            </a:extLst>
          </p:cNvPr>
          <p:cNvSpPr txBox="1"/>
          <p:nvPr/>
        </p:nvSpPr>
        <p:spPr>
          <a:xfrm>
            <a:off x="1277005" y="2961633"/>
            <a:ext cx="10179271" cy="22006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hu-HU" sz="2200" b="1" dirty="0"/>
              <a:t>import </a:t>
            </a:r>
            <a:r>
              <a:rPr lang="hu-HU" sz="2200" b="1" dirty="0" err="1"/>
              <a:t>wave</a:t>
            </a:r>
            <a:endParaRPr lang="hu-HU" sz="2200" b="1" dirty="0"/>
          </a:p>
          <a:p>
            <a:r>
              <a:rPr lang="hu-HU" sz="2200" b="1" dirty="0"/>
              <a:t># WAV fájl beolvasása</a:t>
            </a:r>
          </a:p>
          <a:p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wave.open</a:t>
            </a:r>
            <a:r>
              <a:rPr lang="hu-HU" sz="2200" b="1" dirty="0"/>
              <a:t>("hang.wav", "</a:t>
            </a:r>
            <a:r>
              <a:rPr lang="hu-HU" sz="2200" b="1" dirty="0" err="1"/>
              <a:t>rb</a:t>
            </a:r>
            <a:r>
              <a:rPr lang="hu-HU" sz="2200" b="1" dirty="0"/>
              <a:t>") </a:t>
            </a:r>
            <a:r>
              <a:rPr lang="hu-HU" sz="2200" b="1" dirty="0" err="1"/>
              <a:t>as</a:t>
            </a:r>
            <a:r>
              <a:rPr lang="hu-HU" sz="2200" b="1" dirty="0"/>
              <a:t> hang:</a:t>
            </a:r>
          </a:p>
          <a:p>
            <a:r>
              <a:rPr lang="hu-HU" sz="2200" b="1" dirty="0"/>
              <a:t>    print("Csatornák száma:", </a:t>
            </a:r>
            <a:r>
              <a:rPr lang="hu-HU" sz="2200" b="1" dirty="0" err="1"/>
              <a:t>hang.getnchannels</a:t>
            </a:r>
            <a:r>
              <a:rPr lang="hu-HU" sz="2200" b="1" dirty="0"/>
              <a:t>())</a:t>
            </a:r>
          </a:p>
          <a:p>
            <a:r>
              <a:rPr lang="hu-HU" sz="2200" b="1" dirty="0"/>
              <a:t>    print("Mintavételezési frekvencia:", </a:t>
            </a:r>
            <a:r>
              <a:rPr lang="hu-HU" sz="2200" b="1" dirty="0" err="1"/>
              <a:t>hang.getframerate</a:t>
            </a:r>
            <a:r>
              <a:rPr lang="hu-HU" sz="2200" b="1" dirty="0"/>
              <a:t>())</a:t>
            </a:r>
          </a:p>
          <a:p>
            <a:r>
              <a:rPr lang="hu-HU" sz="2200" b="1" dirty="0"/>
              <a:t>    print("Fájl hossza másodpercben:", </a:t>
            </a:r>
            <a:r>
              <a:rPr lang="hu-HU" sz="2200" b="1" dirty="0" err="1"/>
              <a:t>hang.getnframes</a:t>
            </a:r>
            <a:r>
              <a:rPr lang="hu-HU" sz="2200" b="1" dirty="0"/>
              <a:t>() / </a:t>
            </a:r>
            <a:r>
              <a:rPr lang="hu-HU" sz="2200" b="1" dirty="0" err="1"/>
              <a:t>hang.getframerate</a:t>
            </a:r>
            <a:r>
              <a:rPr lang="hu-HU" sz="2200" b="1" dirty="0"/>
              <a:t>())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5D918F4-CB10-4E39-0169-EC7BDA3904D1}"/>
              </a:ext>
            </a:extLst>
          </p:cNvPr>
          <p:cNvSpPr txBox="1"/>
          <p:nvPr/>
        </p:nvSpPr>
        <p:spPr>
          <a:xfrm>
            <a:off x="838199" y="2375434"/>
            <a:ext cx="7979978" cy="49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Példa: WAV fájl beolvasása és hossza meghatározása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62241" cy="791013"/>
          </a:xfrm>
        </p:spPr>
        <p:txBody>
          <a:bodyPr/>
          <a:lstStyle/>
          <a:p>
            <a:r>
              <a:rPr lang="hu-HU" sz="3200" b="1" dirty="0">
                <a:latin typeface="Times New Roman"/>
              </a:rPr>
              <a:t>6.5. </a:t>
            </a:r>
            <a:r>
              <a:rPr sz="3200" b="1" dirty="0" err="1">
                <a:latin typeface="Times New Roman"/>
              </a:rPr>
              <a:t>Képfájlok</a:t>
            </a:r>
            <a:r>
              <a:rPr sz="3200" b="1" dirty="0">
                <a:latin typeface="Times New Roman"/>
              </a:rPr>
              <a:t> (JPEG, PNG </a:t>
            </a:r>
            <a:r>
              <a:rPr sz="3200" b="1" dirty="0" err="1">
                <a:latin typeface="Times New Roman"/>
              </a:rPr>
              <a:t>stb</a:t>
            </a:r>
            <a:r>
              <a:rPr sz="3200" b="1" dirty="0">
                <a:latin typeface="Times New Roman"/>
              </a:rPr>
              <a:t>.)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7E72037-D4A8-0B04-E56D-50969355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23</a:t>
            </a:fld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A17624E-61FE-C1E6-395C-58046133A925}"/>
              </a:ext>
            </a:extLst>
          </p:cNvPr>
          <p:cNvSpPr txBox="1"/>
          <p:nvPr/>
        </p:nvSpPr>
        <p:spPr>
          <a:xfrm>
            <a:off x="1056289" y="1156138"/>
            <a:ext cx="1007942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Pythonban a </a:t>
            </a:r>
            <a:r>
              <a:rPr lang="hu-HU" sz="2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Pillow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könyvtár (PIL, Python </a:t>
            </a:r>
            <a:r>
              <a:rPr lang="hu-HU" sz="2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Imaging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2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Library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segítségével dolgozhatunk különféle képfájlokkal, például JPEG, PNG, BMP stb. </a:t>
            </a:r>
          </a:p>
          <a:p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Pillow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lehetővé teszi képek beolvasását, manipulálását és mentését.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68E078EE-CCD5-1960-5848-A3ABBAEDB060}"/>
              </a:ext>
            </a:extLst>
          </p:cNvPr>
          <p:cNvSpPr txBox="1"/>
          <p:nvPr/>
        </p:nvSpPr>
        <p:spPr>
          <a:xfrm>
            <a:off x="2254467" y="3366912"/>
            <a:ext cx="6096000" cy="1785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hu-HU" sz="2200" b="1" dirty="0" err="1"/>
              <a:t>from</a:t>
            </a:r>
            <a:r>
              <a:rPr lang="hu-HU" sz="2200" b="1" dirty="0"/>
              <a:t> PIL import Image</a:t>
            </a:r>
          </a:p>
          <a:p>
            <a:r>
              <a:rPr lang="hu-HU" sz="2200" b="1" dirty="0"/>
              <a:t># Képfájl beolvasása és átméretezése</a:t>
            </a:r>
          </a:p>
          <a:p>
            <a:r>
              <a:rPr lang="hu-HU" sz="2200" b="1" dirty="0" err="1"/>
              <a:t>kep</a:t>
            </a:r>
            <a:r>
              <a:rPr lang="hu-HU" sz="2200" b="1" dirty="0"/>
              <a:t> = </a:t>
            </a:r>
            <a:r>
              <a:rPr lang="hu-HU" sz="2200" b="1" dirty="0" err="1"/>
              <a:t>Image.open</a:t>
            </a:r>
            <a:r>
              <a:rPr lang="hu-HU" sz="2200" b="1" dirty="0"/>
              <a:t>("kep.jpg")</a:t>
            </a:r>
          </a:p>
          <a:p>
            <a:r>
              <a:rPr lang="hu-HU" sz="2200" b="1" dirty="0" err="1"/>
              <a:t>uj_kep</a:t>
            </a:r>
            <a:r>
              <a:rPr lang="hu-HU" sz="2200" b="1" dirty="0"/>
              <a:t> = </a:t>
            </a:r>
            <a:r>
              <a:rPr lang="hu-HU" sz="2200" b="1" dirty="0" err="1"/>
              <a:t>kep.resize</a:t>
            </a:r>
            <a:r>
              <a:rPr lang="hu-HU" sz="2200" b="1" dirty="0"/>
              <a:t>((200, 200))</a:t>
            </a:r>
          </a:p>
          <a:p>
            <a:r>
              <a:rPr lang="hu-HU" sz="2200" b="1" dirty="0" err="1"/>
              <a:t>uj_kep.save</a:t>
            </a:r>
            <a:r>
              <a:rPr lang="hu-HU" sz="2200" b="1" dirty="0"/>
              <a:t>("uj_kep.jpg")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57C2DF1A-B5F2-AE5A-09C7-98B71E67E3C2}"/>
              </a:ext>
            </a:extLst>
          </p:cNvPr>
          <p:cNvSpPr txBox="1"/>
          <p:nvPr/>
        </p:nvSpPr>
        <p:spPr>
          <a:xfrm>
            <a:off x="1366343" y="2659108"/>
            <a:ext cx="7872249" cy="49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Példa: Képfájl beolvasása és méretének módosítása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44AC3A12-0425-4F3E-842D-329E84AA2F11}"/>
              </a:ext>
            </a:extLst>
          </p:cNvPr>
          <p:cNvSpPr txBox="1"/>
          <p:nvPr/>
        </p:nvSpPr>
        <p:spPr>
          <a:xfrm>
            <a:off x="1056289" y="5436611"/>
            <a:ext cx="10079421" cy="919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Ebben a példában a kep.jpg képfájlt beolvassuk, átméretezzük 200x200 pixeles méretre, és elmentjük uj_kep.jpg néven.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3200" b="1" dirty="0">
                <a:latin typeface="Times New Roman"/>
              </a:rPr>
              <a:t>6.7. </a:t>
            </a:r>
            <a:r>
              <a:rPr sz="3200" b="1" dirty="0">
                <a:latin typeface="Times New Roman"/>
              </a:rPr>
              <a:t>ZIP </a:t>
            </a:r>
            <a:r>
              <a:rPr sz="3200" b="1" dirty="0" err="1">
                <a:latin typeface="Times New Roman"/>
              </a:rPr>
              <a:t>és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egyéb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tömörített</a:t>
            </a:r>
            <a:r>
              <a:rPr sz="3200" b="1" dirty="0">
                <a:latin typeface="Times New Roman"/>
              </a:rPr>
              <a:t> </a:t>
            </a:r>
            <a:r>
              <a:rPr sz="3200" b="1" dirty="0" err="1">
                <a:latin typeface="Times New Roman"/>
              </a:rPr>
              <a:t>fájlok</a:t>
            </a:r>
            <a:endParaRPr sz="32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51" y="5040853"/>
            <a:ext cx="10515600" cy="919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Ez a kód a fajlok.zip fájl tartalmát kicsomagolja egy kicsomagolt nevű könyvtárba.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3BF920D-D6F2-A411-BAF6-112B0FC2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24</a:t>
            </a:fld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B3A93D1-D7AD-784A-BC72-C5D56E203118}"/>
              </a:ext>
            </a:extLst>
          </p:cNvPr>
          <p:cNvSpPr txBox="1"/>
          <p:nvPr/>
        </p:nvSpPr>
        <p:spPr>
          <a:xfrm>
            <a:off x="838200" y="1357277"/>
            <a:ext cx="10515600" cy="919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zipfile</a:t>
            </a:r>
            <a:r>
              <a:rPr lang="hu-HU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és tarfile modulokkal ZIP és TAR tömörített fájlokat kezelhetünk Pythonban.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16027DB-1A90-BF17-F5AF-A7F2A577EE0D}"/>
              </a:ext>
            </a:extLst>
          </p:cNvPr>
          <p:cNvSpPr txBox="1"/>
          <p:nvPr/>
        </p:nvSpPr>
        <p:spPr>
          <a:xfrm>
            <a:off x="1702676" y="3151070"/>
            <a:ext cx="6096000" cy="15234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hu-HU" sz="2200" b="1" dirty="0"/>
              <a:t>import </a:t>
            </a:r>
            <a:r>
              <a:rPr lang="hu-HU" sz="2200" b="1" dirty="0" err="1"/>
              <a:t>zipfile</a:t>
            </a:r>
            <a:endParaRPr lang="hu-HU" sz="2200" b="1" dirty="0"/>
          </a:p>
          <a:p>
            <a:pPr marL="0" indent="0">
              <a:buNone/>
            </a:pPr>
            <a:r>
              <a:rPr lang="hu-HU" sz="2200" b="1" dirty="0"/>
              <a:t># ZIP fájl kicsomagolása</a:t>
            </a:r>
          </a:p>
          <a:p>
            <a:pPr marL="0" indent="0">
              <a:buNone/>
            </a:pPr>
            <a:r>
              <a:rPr lang="hu-HU" sz="2200" b="1" dirty="0" err="1"/>
              <a:t>with</a:t>
            </a:r>
            <a:r>
              <a:rPr lang="hu-HU" sz="2200" b="1" dirty="0"/>
              <a:t> </a:t>
            </a:r>
            <a:r>
              <a:rPr lang="hu-HU" sz="2200" b="1" dirty="0" err="1"/>
              <a:t>zipfile.ZipFile</a:t>
            </a:r>
            <a:r>
              <a:rPr lang="hu-HU" sz="2200" b="1" dirty="0"/>
              <a:t>("fajlok.zip", "r") </a:t>
            </a:r>
            <a:r>
              <a:rPr lang="hu-HU" sz="2200" b="1" dirty="0" err="1"/>
              <a:t>as</a:t>
            </a:r>
            <a:r>
              <a:rPr lang="hu-HU" sz="2200" b="1" dirty="0"/>
              <a:t> </a:t>
            </a:r>
            <a:r>
              <a:rPr lang="hu-HU" sz="2200" b="1" dirty="0" err="1"/>
              <a:t>zip</a:t>
            </a:r>
            <a:r>
              <a:rPr lang="hu-HU" sz="2200" b="1" dirty="0"/>
              <a:t>:</a:t>
            </a:r>
          </a:p>
          <a:p>
            <a:pPr marL="0" indent="0">
              <a:buNone/>
            </a:pPr>
            <a:r>
              <a:rPr lang="hu-HU" sz="2200" b="1" dirty="0"/>
              <a:t>    </a:t>
            </a:r>
            <a:r>
              <a:rPr lang="hu-HU" sz="2200" b="1" dirty="0" err="1"/>
              <a:t>zip.extractall</a:t>
            </a:r>
            <a:r>
              <a:rPr lang="hu-HU" sz="2200" b="1" dirty="0"/>
              <a:t>("kicsomagolt")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D6AC6F78-EEEE-C89E-78FA-AD05C11CCAE4}"/>
              </a:ext>
            </a:extLst>
          </p:cNvPr>
          <p:cNvSpPr txBox="1"/>
          <p:nvPr/>
        </p:nvSpPr>
        <p:spPr>
          <a:xfrm>
            <a:off x="966951" y="2430945"/>
            <a:ext cx="8450317" cy="49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Példa: ZIP fájl tartalmának kicsomagolása</a:t>
            </a:r>
            <a:endParaRPr lang="hu-HU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0540B5-7634-8DB8-723A-4112EFE2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hu-HU" sz="4000" dirty="0"/>
              <a:t>Képek feldolgozása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4835A1B-9075-4DCA-6711-0F7C9B779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4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77990CF-DDBF-A715-614A-EFA19074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013" y="6356350"/>
            <a:ext cx="685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01AC6B40-9665-4BAE-B750-5A40CB73215F}" type="slidenum">
              <a:rPr lang="hu-HU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25</a:t>
            </a:fld>
            <a:endParaRPr lang="hu-HU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39B6E0-EFA4-274F-7CBA-29CA7212A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hu-HU" sz="1800" dirty="0" err="1"/>
              <a:t>opencv</a:t>
            </a:r>
            <a:endParaRPr lang="hu-HU" sz="1800" dirty="0"/>
          </a:p>
          <a:p>
            <a:r>
              <a:rPr lang="hu-HU" sz="1800" dirty="0"/>
              <a:t>cv2.dnn.readNetFromCaffe(m1, m2)</a:t>
            </a:r>
          </a:p>
          <a:p>
            <a:r>
              <a:rPr lang="hu-HU" sz="1800" dirty="0" err="1"/>
              <a:t>Object</a:t>
            </a:r>
            <a:r>
              <a:rPr lang="hu-HU" sz="1800" dirty="0"/>
              <a:t> </a:t>
            </a:r>
            <a:r>
              <a:rPr lang="hu-HU" sz="1800" dirty="0" err="1"/>
              <a:t>detection</a:t>
            </a:r>
            <a:r>
              <a:rPr lang="hu-HU" sz="1800" dirty="0"/>
              <a:t>, </a:t>
            </a:r>
            <a:r>
              <a:rPr lang="hu-HU" sz="1800" dirty="0" err="1"/>
              <a:t>automtikus</a:t>
            </a:r>
            <a:r>
              <a:rPr lang="hu-HU" sz="1800" dirty="0"/>
              <a:t> azonosítás</a:t>
            </a:r>
          </a:p>
          <a:p>
            <a:r>
              <a:rPr lang="hu-HU" sz="1800" dirty="0" err="1"/>
              <a:t>Hand</a:t>
            </a:r>
            <a:r>
              <a:rPr lang="hu-HU" sz="1800" dirty="0"/>
              <a:t> </a:t>
            </a:r>
            <a:r>
              <a:rPr lang="hu-HU" sz="1800" dirty="0" err="1"/>
              <a:t>detection</a:t>
            </a:r>
            <a:endParaRPr lang="hu-HU" sz="18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77D0A1E-336C-70E5-6351-19AE0DE9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854" y="3632200"/>
            <a:ext cx="2631145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63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88438F-004E-6714-4AB5-A9786CD9E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8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Köszönöm a figyelmet!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0D822A7-E9D1-03EB-54B7-929C991F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41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22354</TotalTime>
  <Words>2654</Words>
  <Application>Microsoft Macintosh PowerPoint</Application>
  <PresentationFormat>Szélesvásznú</PresentationFormat>
  <Paragraphs>274</Paragraphs>
  <Slides>26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Office-téma</vt:lpstr>
      <vt:lpstr>8. Előadás - Python kurzus</vt:lpstr>
      <vt:lpstr>8. Előadás tematikája Adatkezelés, fájlműveletek, kép és „mozgókép” kezelés</vt:lpstr>
      <vt:lpstr>2. Fájlok megnyitása, olvasása, írása (txt, csv, json)</vt:lpstr>
      <vt:lpstr>b) TXT fájl soronkénti olvasása</vt:lpstr>
      <vt:lpstr>d) Adatok hozzáfűzése meglévő TXT fájlhoz</vt:lpstr>
      <vt:lpstr>a) CSV fájl olvasása</vt:lpstr>
      <vt:lpstr>2.3. JSON fájl kezelése</vt:lpstr>
      <vt:lpstr>b) JSON fájl írása</vt:lpstr>
      <vt:lpstr>3. Fájlműveletek hibakezelése </vt:lpstr>
      <vt:lpstr>Példa: Fájl megnyitásának hibakezelése</vt:lpstr>
      <vt:lpstr>3.2. Gyakori fájlműveleti hibák és azok kezelése:  a) FileNotFoundError</vt:lpstr>
      <vt:lpstr>c) IsADirectoryError és NotADirectoryError kezelése</vt:lpstr>
      <vt:lpstr>3.3. Általános kivételkezelés fájlműveleteknél</vt:lpstr>
      <vt:lpstr>3.4. Fájlok bezárása hibakezelés során</vt:lpstr>
      <vt:lpstr>4. A Python with kulcsszó használata </vt:lpstr>
      <vt:lpstr>4.4. Több fájl kezelése egyszerre a with kulcsszóval</vt:lpstr>
      <vt:lpstr>5.4. JSON szöveg kezelése Pythonban</vt:lpstr>
      <vt:lpstr>6.1. Bináris fájlok</vt:lpstr>
      <vt:lpstr>6.2. XML fájlok</vt:lpstr>
      <vt:lpstr>6.3. Microsoft Excel fájlok (XLSX)</vt:lpstr>
      <vt:lpstr>6.4. PDF fájlok</vt:lpstr>
      <vt:lpstr>6.6. Hangfájlok (MP3, WAV)</vt:lpstr>
      <vt:lpstr>6.5. Képfájlok (JPEG, PNG stb.)</vt:lpstr>
      <vt:lpstr>6.7. ZIP és egyéb tömörített fájlok</vt:lpstr>
      <vt:lpstr>Képek feldolgozása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Horváthné Hadobás Olga Erzsébet</dc:creator>
  <cp:lastModifiedBy>Király Roland</cp:lastModifiedBy>
  <cp:revision>646</cp:revision>
  <dcterms:created xsi:type="dcterms:W3CDTF">2024-09-07T08:28:49Z</dcterms:created>
  <dcterms:modified xsi:type="dcterms:W3CDTF">2025-11-03T20:32:48Z</dcterms:modified>
</cp:coreProperties>
</file>