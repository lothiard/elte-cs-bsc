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4"/>
  </p:sldMasterIdLst>
  <p:notesMasterIdLst>
    <p:notesMasterId r:id="rId14"/>
  </p:notesMasterIdLst>
  <p:handoutMasterIdLst>
    <p:handoutMasterId r:id="rId15"/>
  </p:handoutMasterIdLst>
  <p:sldIdLst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 rtl="0">
      <a:defRPr lang="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6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5DAE62A-D99F-45E8-8F1E-8398A366C415}" type="datetime1">
              <a:rPr lang="hu-HU" smtClean="0"/>
              <a:t>2025. 11. 02.</a:t>
            </a:fld>
            <a:endParaRPr lang="en-US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355339E-A8B3-4E96-B26A-62B98246AA83}" type="datetime1">
              <a:rPr lang="hu-HU" smtClean="0"/>
              <a:t>2025. 11. 02.</a:t>
            </a:fld>
            <a:endParaRPr lang="en-US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hu"/>
              <a:t>Mintaszöveg szerkesztése</a:t>
            </a:r>
            <a:endParaRPr lang="en-US"/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8" name="Dátum helye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1DBBACF-7D59-4C09-8A13-44D0181A435A}" type="datetime1">
              <a:rPr lang="hu-HU" smtClean="0"/>
              <a:t>2025. 11. 02.</a:t>
            </a:fld>
            <a:endParaRPr lang="en-US" dirty="0"/>
          </a:p>
        </p:txBody>
      </p:sp>
      <p:sp>
        <p:nvSpPr>
          <p:cNvPr id="9" name="Élőláb helye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Dia számának helye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8" name="Dátum helye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59A803-987E-4B65-903F-6E262CC9AC91}" type="datetime1">
              <a:rPr lang="hu-HU" smtClean="0"/>
              <a:t>2025. 11. 02.</a:t>
            </a:fld>
            <a:endParaRPr lang="en-US" dirty="0"/>
          </a:p>
        </p:txBody>
      </p:sp>
      <p:sp>
        <p:nvSpPr>
          <p:cNvPr id="9" name="Élőláb helye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Dia számának helye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7C774C0-759F-4206-9FC4-1513DC3B7B44}" type="datetime1">
              <a:rPr lang="hu-HU" smtClean="0"/>
              <a:t>2025. 11. 02.</a:t>
            </a:fld>
            <a:endParaRPr lang="en-US" dirty="0"/>
          </a:p>
        </p:txBody>
      </p:sp>
      <p:sp>
        <p:nvSpPr>
          <p:cNvPr id="9" name="Élőláb helye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Dia számának helye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ét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E7CE26-0F92-425F-AAE2-085FB7D31021}" type="datetime1">
              <a:rPr lang="hu-HU" smtClean="0"/>
              <a:t>2025. 11. 02.</a:t>
            </a:fld>
            <a:endParaRPr lang="en-US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ím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D990B8C-6534-442D-A364-CFA264F82568}" type="datetime1">
              <a:rPr lang="hu-HU" smtClean="0"/>
              <a:t>2025. 11. 02.</a:t>
            </a:fld>
            <a:endParaRPr lang="en-US" dirty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ím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6D24DE-5611-49D0-ACEB-A949B958932D}" type="datetime1">
              <a:rPr lang="hu-HU" smtClean="0"/>
              <a:t>2025. 11. 02.</a:t>
            </a:fld>
            <a:endParaRPr lang="en-US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DEA2F1-37BA-48B0-AC94-A709473EDAF5}" type="datetime1">
              <a:rPr lang="hu-HU" smtClean="0"/>
              <a:t>2025. 11. 02.</a:t>
            </a:fld>
            <a:endParaRPr lang="en-US" dirty="0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8" name="Dátum helye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8E36CDD0-238B-4F40-902D-B0ABB84BD03D}" type="datetime1">
              <a:rPr lang="hu-HU" smtClean="0"/>
              <a:t>2025. 11. 02.</a:t>
            </a:fld>
            <a:endParaRPr lang="en-US" dirty="0"/>
          </a:p>
        </p:txBody>
      </p:sp>
      <p:sp>
        <p:nvSpPr>
          <p:cNvPr id="10" name="Élőláb helye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Dia számának helye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Kép helyőrzője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050160C-9879-40AE-A525-CEAF600ABAE0}" type="datetime1">
              <a:rPr lang="hu-HU" smtClean="0"/>
              <a:t>2025. 11. 02.</a:t>
            </a:fld>
            <a:endParaRPr lang="en-US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ím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0126248-8C71-4D39-9544-09D417FBF935}" type="datetime1">
              <a:rPr lang="hu-HU" smtClean="0"/>
              <a:t>2025. 11. 02.</a:t>
            </a:fld>
            <a:endParaRPr lang="en-US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átum helye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CE80B1-4D46-471D-BE8B-C33022AF0238}" type="datetime1">
              <a:rPr lang="hu-HU" smtClean="0"/>
              <a:t>2025. 11. 02.</a:t>
            </a:fld>
            <a:endParaRPr lang="en-US" dirty="0"/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Dia számának helye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hu"/>
              <a:t>Mintacím stílusának szerkesztése</a:t>
            </a:r>
            <a:endParaRPr lang="en-US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3467763-A444-456E-9B90-780721D4CC30}" type="datetime1">
              <a:rPr lang="hu-HU" smtClean="0"/>
              <a:t>2025. 11. 02.</a:t>
            </a:fld>
            <a:endParaRPr lang="en-US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églalap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0" name="Téglalap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1" name="Téglalap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Téglalap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hu" dirty="0"/>
              <a:t>SQLalchemy, SQLite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pPr rtl="0"/>
            <a:r>
              <a:rPr lang="hu" dirty="0"/>
              <a:t>Python</a:t>
            </a:r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2" name="Téglalap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4" name="Téglalap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6" name="Kép 5" descr="Egy embléma közelképe&#10;&#10;Automatikusan létrehozott leírás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18FDE11-F916-7EBF-BB41-2E7B1E1F3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" dirty="0"/>
              <a:t>Adatbázis kapcsolat, engine és base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DD4C3BB-BFDA-64A8-666F-3568676DE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sz="2400" b="1" dirty="0"/>
              <a:t>## </a:t>
            </a:r>
            <a:r>
              <a:rPr lang="hu-HU" sz="2400" b="1" dirty="0" err="1"/>
              <a:t>Dependencies</a:t>
            </a:r>
            <a:endParaRPr lang="hu-HU" sz="2400" dirty="0"/>
          </a:p>
          <a:p>
            <a:r>
              <a:rPr lang="hu-HU" sz="2400" dirty="0"/>
              <a:t>    </a:t>
            </a:r>
            <a:r>
              <a:rPr lang="hu-HU" sz="2400" dirty="0" err="1"/>
              <a:t>sqlalchemy</a:t>
            </a:r>
            <a:endParaRPr lang="hu-HU" sz="2400" dirty="0"/>
          </a:p>
          <a:p>
            <a:pPr marL="0" indent="0">
              <a:buFont typeface="Wingdings 2" panose="05020102010507070707" pitchFamily="18" charset="2"/>
              <a:buNone/>
            </a:pPr>
            <a:r>
              <a:rPr lang="hu-HU" sz="2400" b="1" dirty="0"/>
              <a:t>## </a:t>
            </a:r>
            <a:r>
              <a:rPr lang="hu-HU" sz="2400" b="1" dirty="0" err="1"/>
              <a:t>Imports</a:t>
            </a:r>
            <a:endParaRPr lang="hu-HU" sz="2400" b="1" dirty="0"/>
          </a:p>
          <a:p>
            <a:r>
              <a:rPr lang="hu-HU" sz="2400" dirty="0"/>
              <a:t>    </a:t>
            </a:r>
            <a:r>
              <a:rPr lang="hu-HU" sz="2400" dirty="0" err="1"/>
              <a:t>from</a:t>
            </a:r>
            <a:r>
              <a:rPr lang="hu-HU" sz="2400" dirty="0"/>
              <a:t> </a:t>
            </a:r>
            <a:r>
              <a:rPr lang="hu-HU" sz="2400" dirty="0" err="1"/>
              <a:t>sqlalchemy</a:t>
            </a:r>
            <a:r>
              <a:rPr lang="hu-HU" sz="2400" dirty="0"/>
              <a:t> import </a:t>
            </a:r>
            <a:r>
              <a:rPr lang="hu-HU" sz="2400" dirty="0" err="1"/>
              <a:t>create_engine</a:t>
            </a:r>
            <a:r>
              <a:rPr lang="hu-HU" sz="2400" dirty="0"/>
              <a:t>, Integer, </a:t>
            </a:r>
            <a:r>
              <a:rPr lang="hu-HU" sz="2400" dirty="0" err="1"/>
              <a:t>String</a:t>
            </a:r>
            <a:r>
              <a:rPr lang="hu-HU" sz="2400" dirty="0"/>
              <a:t>, </a:t>
            </a:r>
            <a:r>
              <a:rPr lang="hu-HU" sz="2400" dirty="0" err="1"/>
              <a:t>Column</a:t>
            </a:r>
            <a:endParaRPr lang="hu-HU" sz="2400" dirty="0"/>
          </a:p>
          <a:p>
            <a:r>
              <a:rPr lang="hu-HU" sz="2400" dirty="0"/>
              <a:t>    </a:t>
            </a:r>
            <a:r>
              <a:rPr lang="hu-HU" sz="2400" dirty="0" err="1"/>
              <a:t>from</a:t>
            </a:r>
            <a:r>
              <a:rPr lang="hu-HU" sz="2400" dirty="0"/>
              <a:t> </a:t>
            </a:r>
            <a:r>
              <a:rPr lang="hu-HU" sz="2400" dirty="0" err="1"/>
              <a:t>sqlalchemy.orm</a:t>
            </a:r>
            <a:r>
              <a:rPr lang="hu-HU" sz="2400" dirty="0"/>
              <a:t> import </a:t>
            </a:r>
            <a:r>
              <a:rPr lang="hu-HU" sz="2400" dirty="0" err="1"/>
              <a:t>declarative_base</a:t>
            </a:r>
            <a:endParaRPr lang="hu-HU" sz="2400" dirty="0"/>
          </a:p>
          <a:p>
            <a:r>
              <a:rPr lang="hu-HU" sz="2400" dirty="0"/>
              <a:t>    </a:t>
            </a:r>
            <a:r>
              <a:rPr lang="hu-HU" sz="2400" dirty="0" err="1"/>
              <a:t>from</a:t>
            </a:r>
            <a:r>
              <a:rPr lang="hu-HU" sz="2400" dirty="0"/>
              <a:t> </a:t>
            </a:r>
            <a:r>
              <a:rPr lang="hu-HU" sz="2400" dirty="0" err="1"/>
              <a:t>sqlalchemy.orm</a:t>
            </a:r>
            <a:r>
              <a:rPr lang="hu-HU" sz="2400" dirty="0"/>
              <a:t> import </a:t>
            </a:r>
            <a:r>
              <a:rPr lang="hu-HU" sz="2400" dirty="0" err="1"/>
              <a:t>sessionmaker</a:t>
            </a:r>
            <a:endParaRPr lang="hu-HU" sz="2400" dirty="0"/>
          </a:p>
          <a:p>
            <a:pPr marL="0" indent="0">
              <a:buNone/>
            </a:pPr>
            <a:endParaRPr lang="hu-HU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9092BB9-1683-4FFE-B73C-8B0B23431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459A803-987E-4B65-903F-6E262CC9AC91}" type="datetime1">
              <a:rPr lang="hu-HU" smtClean="0"/>
              <a:t>2025. 11. 02.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041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BE67B55-2D52-90F4-8DDC-6C18C71B8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Packages</a:t>
            </a:r>
            <a:r>
              <a:rPr lang="hu-HU" dirty="0"/>
              <a:t>, DBPATH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7975BCC-1F07-2998-7575-DEB5D5C06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340864"/>
            <a:ext cx="4844918" cy="3634486"/>
          </a:xfrm>
        </p:spPr>
        <p:txBody>
          <a:bodyPr>
            <a:normAutofit/>
          </a:bodyPr>
          <a:lstStyle/>
          <a:p>
            <a:r>
              <a:rPr lang="hu-HU" sz="2400" b="1" dirty="0"/>
              <a:t>## </a:t>
            </a:r>
            <a:r>
              <a:rPr lang="hu-HU" sz="2400" b="1" dirty="0" err="1"/>
              <a:t>Packages</a:t>
            </a:r>
            <a:endParaRPr lang="hu-HU" sz="2400" dirty="0"/>
          </a:p>
          <a:p>
            <a:r>
              <a:rPr lang="hu-HU" sz="2400" dirty="0"/>
              <a:t>    </a:t>
            </a:r>
            <a:r>
              <a:rPr lang="hu-HU" sz="2400" dirty="0" err="1"/>
              <a:t>Database</a:t>
            </a:r>
            <a:r>
              <a:rPr lang="hu-HU" sz="2400" dirty="0"/>
              <a:t> </a:t>
            </a:r>
            <a:r>
              <a:rPr lang="hu-HU" sz="2400" dirty="0" err="1"/>
              <a:t>Client</a:t>
            </a:r>
            <a:br>
              <a:rPr lang="hu-HU" sz="2400" dirty="0"/>
            </a:br>
            <a:endParaRPr lang="hu-HU" sz="2400" dirty="0"/>
          </a:p>
          <a:p>
            <a:r>
              <a:rPr lang="hu-HU" sz="2400" b="1" dirty="0"/>
              <a:t>## </a:t>
            </a:r>
            <a:r>
              <a:rPr lang="hu-HU" sz="2400" b="1" dirty="0" err="1"/>
              <a:t>Path</a:t>
            </a:r>
            <a:r>
              <a:rPr lang="hu-HU" sz="2400" b="1" dirty="0"/>
              <a:t> </a:t>
            </a:r>
            <a:r>
              <a:rPr lang="hu-HU" sz="2400" b="1" dirty="0" err="1"/>
              <a:t>to</a:t>
            </a:r>
            <a:r>
              <a:rPr lang="hu-HU" sz="2400" b="1" dirty="0"/>
              <a:t> </a:t>
            </a:r>
            <a:r>
              <a:rPr lang="hu-HU" sz="2400" b="1" dirty="0" err="1"/>
              <a:t>database</a:t>
            </a:r>
            <a:endParaRPr lang="hu-HU" sz="2400" dirty="0"/>
          </a:p>
          <a:p>
            <a:r>
              <a:rPr lang="hu-HU" sz="2400" dirty="0" err="1"/>
              <a:t>dbpath</a:t>
            </a:r>
            <a:r>
              <a:rPr lang="hu-HU" sz="2400" dirty="0"/>
              <a:t> = "</a:t>
            </a:r>
            <a:r>
              <a:rPr lang="hu-HU" sz="2400" dirty="0" err="1"/>
              <a:t>sqlite</a:t>
            </a:r>
            <a:r>
              <a:rPr lang="hu-HU" sz="2400" dirty="0"/>
              <a:t>:///</a:t>
            </a:r>
            <a:r>
              <a:rPr lang="hu-HU" sz="2400" dirty="0" err="1"/>
              <a:t>database.db</a:t>
            </a:r>
            <a:r>
              <a:rPr lang="hu-HU" sz="2400" dirty="0"/>
              <a:t>"</a:t>
            </a:r>
            <a:br>
              <a:rPr lang="hu-HU" sz="2400" dirty="0"/>
            </a:br>
            <a:endParaRPr lang="hu-HU" sz="2400" dirty="0"/>
          </a:p>
          <a:p>
            <a:endParaRPr lang="hu-HU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D29F5E2-44AF-A01B-482F-394DA680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459A803-987E-4B65-903F-6E262CC9AC91}" type="datetime1">
              <a:rPr lang="hu-HU" smtClean="0"/>
              <a:t>2025. 11. 02.</a:t>
            </a:fld>
            <a:endParaRPr lang="en-US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86078A7-0B1E-37C6-1104-33AE3B35D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161" y="4527054"/>
            <a:ext cx="5862154" cy="1896860"/>
          </a:xfrm>
          <a:prstGeom prst="rect">
            <a:avLst/>
          </a:prstGeom>
          <a:effectLst>
            <a:outerShdw blurRad="2794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6E950EA9-DF08-809A-0E19-BAFE58155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891" y="773330"/>
            <a:ext cx="3193464" cy="3384777"/>
          </a:xfrm>
          <a:prstGeom prst="rect">
            <a:avLst/>
          </a:prstGeom>
          <a:effectLst>
            <a:outerShdw blurRad="419100" dist="38100" dir="2700000" sx="106000" sy="106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7687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8400E95-5C6B-9319-EF49-EA37A4B1C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Táblák az adatbázisban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6AEF851-1D0B-0470-2CC8-78DF2C039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340864"/>
            <a:ext cx="4954904" cy="3634486"/>
          </a:xfrm>
        </p:spPr>
        <p:txBody>
          <a:bodyPr>
            <a:normAutofit fontScale="47500" lnSpcReduction="20000"/>
          </a:bodyPr>
          <a:lstStyle/>
          <a:p>
            <a:r>
              <a:rPr lang="hu-HU" sz="5100" b="1" dirty="0"/>
              <a:t>## </a:t>
            </a:r>
            <a:r>
              <a:rPr lang="hu-HU" sz="5100" b="1" dirty="0" err="1"/>
              <a:t>Tables</a:t>
            </a:r>
            <a:br>
              <a:rPr lang="hu-HU" sz="5100" dirty="0"/>
            </a:br>
            <a:endParaRPr lang="hu-HU" sz="5100" dirty="0"/>
          </a:p>
          <a:p>
            <a:r>
              <a:rPr lang="hu-HU" sz="5100" dirty="0" err="1"/>
              <a:t>class</a:t>
            </a:r>
            <a:r>
              <a:rPr lang="hu-HU" sz="5100" dirty="0"/>
              <a:t> User(</a:t>
            </a:r>
            <a:r>
              <a:rPr lang="hu-HU" sz="5100" dirty="0" err="1"/>
              <a:t>Base</a:t>
            </a:r>
            <a:r>
              <a:rPr lang="hu-HU" sz="5100" dirty="0"/>
              <a:t>):</a:t>
            </a:r>
          </a:p>
          <a:p>
            <a:r>
              <a:rPr lang="hu-HU" sz="5100" dirty="0"/>
              <a:t>    </a:t>
            </a:r>
            <a:r>
              <a:rPr lang="hu-HU" sz="5100" b="1" dirty="0"/>
              <a:t>__</a:t>
            </a:r>
            <a:r>
              <a:rPr lang="hu-HU" sz="5100" b="1" dirty="0" err="1"/>
              <a:t>tablename</a:t>
            </a:r>
            <a:r>
              <a:rPr lang="hu-HU" sz="5100" b="1" dirty="0"/>
              <a:t>__</a:t>
            </a:r>
            <a:r>
              <a:rPr lang="hu-HU" sz="5100" dirty="0"/>
              <a:t> = "</a:t>
            </a:r>
            <a:r>
              <a:rPr lang="hu-HU" sz="5100" dirty="0" err="1"/>
              <a:t>users</a:t>
            </a:r>
            <a:r>
              <a:rPr lang="hu-HU" sz="5100" dirty="0"/>
              <a:t>"</a:t>
            </a:r>
          </a:p>
          <a:p>
            <a:r>
              <a:rPr lang="hu-HU" sz="5100" dirty="0"/>
              <a:t>    </a:t>
            </a:r>
            <a:r>
              <a:rPr lang="hu-HU" sz="5100" dirty="0" err="1"/>
              <a:t>id</a:t>
            </a:r>
            <a:r>
              <a:rPr lang="hu-HU" sz="5100" dirty="0"/>
              <a:t> = </a:t>
            </a:r>
            <a:r>
              <a:rPr lang="hu-HU" sz="5100" dirty="0" err="1"/>
              <a:t>Column</a:t>
            </a:r>
            <a:r>
              <a:rPr lang="hu-HU" sz="5100" dirty="0"/>
              <a:t>(Integer, </a:t>
            </a:r>
            <a:r>
              <a:rPr lang="hu-HU" sz="5100" dirty="0" err="1"/>
              <a:t>primary_key</a:t>
            </a:r>
            <a:r>
              <a:rPr lang="hu-HU" sz="5100" dirty="0"/>
              <a:t>=</a:t>
            </a:r>
            <a:r>
              <a:rPr lang="hu-HU" sz="5100" dirty="0" err="1"/>
              <a:t>True</a:t>
            </a:r>
            <a:r>
              <a:rPr lang="hu-HU" sz="5100" dirty="0"/>
              <a:t>)</a:t>
            </a:r>
          </a:p>
          <a:p>
            <a:r>
              <a:rPr lang="hu-HU" sz="5100" dirty="0"/>
              <a:t>    </a:t>
            </a:r>
            <a:r>
              <a:rPr lang="hu-HU" sz="5100" dirty="0" err="1"/>
              <a:t>name</a:t>
            </a:r>
            <a:r>
              <a:rPr lang="hu-HU" sz="5100" dirty="0"/>
              <a:t> = </a:t>
            </a:r>
            <a:r>
              <a:rPr lang="hu-HU" sz="5100" dirty="0" err="1"/>
              <a:t>Column</a:t>
            </a:r>
            <a:r>
              <a:rPr lang="hu-HU" sz="5100" dirty="0"/>
              <a:t>(</a:t>
            </a:r>
            <a:r>
              <a:rPr lang="hu-HU" sz="5100" dirty="0" err="1"/>
              <a:t>String</a:t>
            </a:r>
            <a:r>
              <a:rPr lang="hu-HU" sz="5100" dirty="0"/>
              <a:t>)</a:t>
            </a:r>
          </a:p>
          <a:p>
            <a:r>
              <a:rPr lang="hu-HU" sz="5100" dirty="0"/>
              <a:t>    </a:t>
            </a:r>
            <a:r>
              <a:rPr lang="hu-HU" sz="5100" dirty="0" err="1"/>
              <a:t>age</a:t>
            </a:r>
            <a:r>
              <a:rPr lang="hu-HU" sz="5100" dirty="0"/>
              <a:t> = </a:t>
            </a:r>
            <a:r>
              <a:rPr lang="hu-HU" sz="5100" dirty="0" err="1"/>
              <a:t>Column</a:t>
            </a:r>
            <a:r>
              <a:rPr lang="hu-HU" sz="5100" dirty="0"/>
              <a:t>(Integer)</a:t>
            </a:r>
          </a:p>
          <a:p>
            <a:endParaRPr lang="hu-HU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5A9194E-8592-D57A-748E-C42842CDB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459A803-987E-4B65-903F-6E262CC9AC91}" type="datetime1">
              <a:rPr lang="hu-HU" smtClean="0"/>
              <a:t>2025. 11. 02.</a:t>
            </a:fld>
            <a:endParaRPr lang="en-US" dirty="0"/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02A73F07-54FE-0D2D-938B-49B8ABAED163}"/>
              </a:ext>
            </a:extLst>
          </p:cNvPr>
          <p:cNvSpPr txBox="1">
            <a:spLocks/>
          </p:cNvSpPr>
          <p:nvPr/>
        </p:nvSpPr>
        <p:spPr>
          <a:xfrm>
            <a:off x="6655903" y="2340152"/>
            <a:ext cx="4954904" cy="36344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5100" dirty="0" err="1"/>
              <a:t>class</a:t>
            </a:r>
            <a:r>
              <a:rPr lang="hu-HU" sz="5100" dirty="0"/>
              <a:t> </a:t>
            </a:r>
            <a:r>
              <a:rPr lang="hu-HU" sz="5100" dirty="0" err="1"/>
              <a:t>Product</a:t>
            </a:r>
            <a:r>
              <a:rPr lang="hu-HU" sz="5100" dirty="0"/>
              <a:t>(</a:t>
            </a:r>
            <a:r>
              <a:rPr lang="hu-HU" sz="5100" dirty="0" err="1"/>
              <a:t>Base</a:t>
            </a:r>
            <a:r>
              <a:rPr lang="hu-HU" sz="5100" dirty="0"/>
              <a:t>):</a:t>
            </a:r>
          </a:p>
          <a:p>
            <a:r>
              <a:rPr lang="hu-HU" sz="5100" dirty="0"/>
              <a:t>    </a:t>
            </a:r>
            <a:r>
              <a:rPr lang="hu-HU" sz="5100" b="1" dirty="0"/>
              <a:t>__</a:t>
            </a:r>
            <a:r>
              <a:rPr lang="hu-HU" sz="5100" b="1" dirty="0" err="1"/>
              <a:t>tablename</a:t>
            </a:r>
            <a:r>
              <a:rPr lang="hu-HU" sz="5100" b="1" dirty="0"/>
              <a:t>__</a:t>
            </a:r>
            <a:r>
              <a:rPr lang="hu-HU" sz="5100" dirty="0"/>
              <a:t> = "</a:t>
            </a:r>
            <a:r>
              <a:rPr lang="hu-HU" sz="5100" dirty="0" err="1"/>
              <a:t>products</a:t>
            </a:r>
            <a:r>
              <a:rPr lang="hu-HU" sz="5100" dirty="0"/>
              <a:t>"</a:t>
            </a:r>
          </a:p>
          <a:p>
            <a:r>
              <a:rPr lang="hu-HU" sz="5100" dirty="0"/>
              <a:t>    </a:t>
            </a:r>
            <a:r>
              <a:rPr lang="hu-HU" sz="5100" dirty="0" err="1"/>
              <a:t>id</a:t>
            </a:r>
            <a:r>
              <a:rPr lang="hu-HU" sz="5100" dirty="0"/>
              <a:t> = </a:t>
            </a:r>
            <a:r>
              <a:rPr lang="hu-HU" sz="5100" dirty="0" err="1"/>
              <a:t>Column</a:t>
            </a:r>
            <a:r>
              <a:rPr lang="hu-HU" sz="5100" dirty="0"/>
              <a:t>(Integer, </a:t>
            </a:r>
            <a:r>
              <a:rPr lang="hu-HU" sz="5100" dirty="0" err="1"/>
              <a:t>primary_key</a:t>
            </a:r>
            <a:r>
              <a:rPr lang="hu-HU" sz="5100" dirty="0"/>
              <a:t>=</a:t>
            </a:r>
            <a:r>
              <a:rPr lang="hu-HU" sz="5100" dirty="0" err="1"/>
              <a:t>True</a:t>
            </a:r>
            <a:r>
              <a:rPr lang="hu-HU" sz="5100" dirty="0"/>
              <a:t>)</a:t>
            </a:r>
          </a:p>
          <a:p>
            <a:r>
              <a:rPr lang="hu-HU" sz="5100" dirty="0"/>
              <a:t>    </a:t>
            </a:r>
            <a:r>
              <a:rPr lang="hu-HU" sz="5100" dirty="0" err="1"/>
              <a:t>name</a:t>
            </a:r>
            <a:r>
              <a:rPr lang="hu-HU" sz="5100" dirty="0"/>
              <a:t> = </a:t>
            </a:r>
            <a:r>
              <a:rPr lang="hu-HU" sz="5100" dirty="0" err="1"/>
              <a:t>Column</a:t>
            </a:r>
            <a:r>
              <a:rPr lang="hu-HU" sz="5100" dirty="0"/>
              <a:t>(</a:t>
            </a:r>
            <a:r>
              <a:rPr lang="hu-HU" sz="5100" dirty="0" err="1"/>
              <a:t>String</a:t>
            </a:r>
            <a:r>
              <a:rPr lang="hu-HU" sz="5100" dirty="0"/>
              <a:t>)</a:t>
            </a:r>
          </a:p>
          <a:p>
            <a:r>
              <a:rPr lang="hu-HU" sz="5100" dirty="0"/>
              <a:t>    </a:t>
            </a:r>
            <a:r>
              <a:rPr lang="hu-HU" sz="5100" dirty="0" err="1"/>
              <a:t>brand</a:t>
            </a:r>
            <a:r>
              <a:rPr lang="hu-HU" sz="5100" dirty="0"/>
              <a:t> = </a:t>
            </a:r>
            <a:r>
              <a:rPr lang="hu-HU" sz="5100" dirty="0" err="1"/>
              <a:t>Column</a:t>
            </a:r>
            <a:r>
              <a:rPr lang="hu-HU" sz="5100" dirty="0"/>
              <a:t>(</a:t>
            </a:r>
            <a:r>
              <a:rPr lang="hu-HU" sz="5100" dirty="0" err="1"/>
              <a:t>String</a:t>
            </a:r>
            <a:r>
              <a:rPr lang="hu-HU" sz="5100" dirty="0"/>
              <a:t>)</a:t>
            </a:r>
          </a:p>
          <a:p>
            <a:r>
              <a:rPr lang="hu-HU" sz="5100" dirty="0"/>
              <a:t>    </a:t>
            </a:r>
            <a:r>
              <a:rPr lang="hu-HU" sz="5100" dirty="0" err="1"/>
              <a:t>price</a:t>
            </a:r>
            <a:r>
              <a:rPr lang="hu-HU" sz="5100" dirty="0"/>
              <a:t> = </a:t>
            </a:r>
            <a:r>
              <a:rPr lang="hu-HU" sz="5100" dirty="0" err="1"/>
              <a:t>Column</a:t>
            </a:r>
            <a:r>
              <a:rPr lang="hu-HU" sz="5100" dirty="0"/>
              <a:t>(Integer)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83415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6C46B6A-99B9-43C9-6DBA-2B4B6F2FA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anchor="b">
            <a:normAutofit/>
          </a:bodyPr>
          <a:lstStyle/>
          <a:p>
            <a:r>
              <a:rPr lang="hu-HU" dirty="0"/>
              <a:t>A DB és a táblák létrehozása (</a:t>
            </a:r>
            <a:r>
              <a:rPr lang="hu-HU" dirty="0" err="1"/>
              <a:t>sqlalchemy</a:t>
            </a:r>
            <a:r>
              <a:rPr lang="hu-HU" dirty="0"/>
              <a:t> és </a:t>
            </a:r>
            <a:r>
              <a:rPr lang="hu-HU" dirty="0" err="1"/>
              <a:t>SQLite</a:t>
            </a:r>
            <a:r>
              <a:rPr lang="hu-HU" dirty="0"/>
              <a:t>)</a:t>
            </a:r>
          </a:p>
        </p:txBody>
      </p:sp>
      <p:pic>
        <p:nvPicPr>
          <p:cNvPr id="6" name="Kép 5" descr="A képen szöveg, képernyőkép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6B4C62E-A3DD-C8DE-4F65-63168F440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462303"/>
            <a:ext cx="11029615" cy="3391607"/>
          </a:xfrm>
          <a:prstGeom prst="rect">
            <a:avLst/>
          </a:prstGeom>
          <a:noFill/>
          <a:effectLst>
            <a:outerShdw blurRad="4572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10FA0E6B-69A3-5915-5EE7-16E21A37AA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8459A803-987E-4B65-903F-6E262CC9AC91}" type="datetime1">
              <a:rPr lang="hu-HU" smtClean="0"/>
              <a:pPr rtl="0">
                <a:spcAft>
                  <a:spcPts val="600"/>
                </a:spcAft>
              </a:pPr>
              <a:t>2025. 11. 02.</a:t>
            </a:fld>
            <a:endParaRPr lang="en-US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F280DE30-2B02-19A8-A3F7-220BEDFFD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8245" y="3436673"/>
            <a:ext cx="3205010" cy="335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883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17DFB-F29C-4FD0-DFE1-4D430ED3C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5296B2-A50E-544A-1DBF-C26954010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anchor="b">
            <a:normAutofit/>
          </a:bodyPr>
          <a:lstStyle/>
          <a:p>
            <a:r>
              <a:rPr lang="hu-HU" dirty="0"/>
              <a:t>Táblák létrehozása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FEEAC4A-735A-8001-D04E-144835DB9D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8459A803-987E-4B65-903F-6E262CC9AC91}" type="datetime1">
              <a:rPr lang="hu-HU" smtClean="0"/>
              <a:pPr rtl="0">
                <a:spcAft>
                  <a:spcPts val="600"/>
                </a:spcAft>
              </a:pPr>
              <a:t>2025. 11. 02.</a:t>
            </a:fld>
            <a:endParaRPr lang="en-US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A087E19-3C2E-6CA3-B6AC-8F0234BA0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955" y="2395023"/>
            <a:ext cx="9266046" cy="3007401"/>
          </a:xfrm>
          <a:prstGeom prst="rect">
            <a:avLst/>
          </a:prstGeom>
          <a:effectLst>
            <a:outerShdw blurRad="292100" dist="38100" dir="2700000" sx="103000" sy="103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5CE660EA-13D6-AC11-F64A-202884C57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7855" y="5688832"/>
            <a:ext cx="5957645" cy="651108"/>
          </a:xfrm>
          <a:prstGeom prst="rect">
            <a:avLst/>
          </a:prstGeom>
          <a:effectLst>
            <a:outerShdw blurRad="292100" dist="38100" dir="2700000" sx="103000" sy="103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5854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66E5F-1FE8-F8DC-C46E-55C38E839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DFEDF1B-DD43-E885-1661-634145C9F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anchor="b">
            <a:normAutofit/>
          </a:bodyPr>
          <a:lstStyle/>
          <a:p>
            <a:r>
              <a:rPr lang="hu-HU" dirty="0"/>
              <a:t>Session és </a:t>
            </a:r>
            <a:r>
              <a:rPr lang="hu-HU" dirty="0" err="1"/>
              <a:t>Query</a:t>
            </a:r>
            <a:r>
              <a:rPr lang="hu-HU" dirty="0"/>
              <a:t>-k 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E4EC6B4-5DC5-0383-0690-9E222B75E7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8459A803-987E-4B65-903F-6E262CC9AC91}" type="datetime1">
              <a:rPr lang="hu-HU" smtClean="0"/>
              <a:pPr rtl="0">
                <a:spcAft>
                  <a:spcPts val="600"/>
                </a:spcAft>
              </a:pPr>
              <a:t>2025. 11. 02.</a:t>
            </a:fld>
            <a:endParaRPr lang="en-US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0554242D-5969-5600-4CAE-A6876A936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667" y="941536"/>
            <a:ext cx="5228059" cy="949340"/>
          </a:xfrm>
          <a:prstGeom prst="rect">
            <a:avLst/>
          </a:prstGeom>
          <a:noFill/>
          <a:effectLst>
            <a:outerShdw blurRad="279400" dist="38100" dir="2700000" sx="104000" sy="104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812DF329-71FA-760E-1FF1-1282C610D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74" y="2274711"/>
            <a:ext cx="3692098" cy="3861849"/>
          </a:xfrm>
          <a:prstGeom prst="rect">
            <a:avLst/>
          </a:prstGeom>
          <a:noFill/>
          <a:effectLst>
            <a:outerShdw blurRad="279400" dist="38100" dir="2700000" sx="104000" sy="104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D32199B4-3880-4580-5590-9CA3E47DD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770" y="2274711"/>
            <a:ext cx="6769956" cy="3858147"/>
          </a:xfrm>
          <a:prstGeom prst="rect">
            <a:avLst/>
          </a:prstGeom>
          <a:noFill/>
          <a:effectLst>
            <a:outerShdw blurRad="279400" dist="38100" dir="2700000" sx="104000" sy="104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3116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882E5-B550-E565-BBC7-45608CAAE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480CDB3-59BA-0927-D983-A114215FC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70" y="0"/>
            <a:ext cx="11029616" cy="1188720"/>
          </a:xfrm>
        </p:spPr>
        <p:txBody>
          <a:bodyPr anchor="b">
            <a:normAutofit/>
          </a:bodyPr>
          <a:lstStyle/>
          <a:p>
            <a:r>
              <a:rPr lang="hu-HU" dirty="0"/>
              <a:t>Session és </a:t>
            </a:r>
            <a:r>
              <a:rPr lang="hu-HU" dirty="0" err="1"/>
              <a:t>Query</a:t>
            </a:r>
            <a:r>
              <a:rPr lang="hu-HU" dirty="0"/>
              <a:t>-k 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935AEAF-EECC-DE8D-616C-3571A80F5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70" y="1288166"/>
            <a:ext cx="8409474" cy="4267808"/>
          </a:xfrm>
          <a:prstGeom prst="rect">
            <a:avLst/>
          </a:prstGeom>
          <a:noFill/>
          <a:effectLst>
            <a:outerShdw blurRad="254000" dist="38100" dir="2700000" sx="102000" sy="102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12D4D1CB-86EF-84CA-A836-E626E3CC08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8459A803-987E-4B65-903F-6E262CC9AC91}" type="datetime1">
              <a:rPr lang="hu-HU" smtClean="0"/>
              <a:pPr rtl="0">
                <a:spcAft>
                  <a:spcPts val="600"/>
                </a:spcAft>
              </a:pPr>
              <a:t>2025. 11. 02.</a:t>
            </a:fld>
            <a:endParaRPr lang="en-US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68949046-4FEF-3562-732E-16901348A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763" y="4831164"/>
            <a:ext cx="8756375" cy="1648511"/>
          </a:xfrm>
          <a:prstGeom prst="rect">
            <a:avLst/>
          </a:prstGeom>
          <a:noFill/>
          <a:effectLst>
            <a:outerShdw blurRad="254000" dist="38100" dir="2700000" sx="102000" sy="102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3412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3B9FB-C270-3FA4-48F0-515288E61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A00B82-8AD8-378E-A723-567E06BAF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anchor="b">
            <a:normAutofit/>
          </a:bodyPr>
          <a:lstStyle/>
          <a:p>
            <a:r>
              <a:rPr lang="hu-HU" dirty="0"/>
              <a:t>Session és </a:t>
            </a:r>
            <a:r>
              <a:rPr lang="hu-HU" dirty="0" err="1"/>
              <a:t>Query</a:t>
            </a:r>
            <a:r>
              <a:rPr lang="hu-HU" dirty="0"/>
              <a:t>-k - </a:t>
            </a:r>
            <a:r>
              <a:rPr lang="hu-HU" dirty="0" err="1"/>
              <a:t>delete</a:t>
            </a:r>
            <a:r>
              <a:rPr lang="hu-HU" dirty="0"/>
              <a:t> 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B8B37D2A-5840-7167-4391-24475B688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462303"/>
            <a:ext cx="11029615" cy="3391607"/>
          </a:xfrm>
          <a:prstGeom prst="rect">
            <a:avLst/>
          </a:prstGeom>
          <a:noFill/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476E467D-1FD7-B6C2-C111-B343FF107E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8459A803-987E-4B65-903F-6E262CC9AC91}" type="datetime1">
              <a:rPr lang="hu-HU" smtClean="0"/>
              <a:pPr rtl="0">
                <a:spcAft>
                  <a:spcPts val="600"/>
                </a:spcAft>
              </a:pPr>
              <a:t>2025. 11. 02.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6763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833_TF33552983" id="{B3EE83EE-CCFB-4CB3-9AFB-F793C354D2BB}" vid="{A0A712A1-0E18-4ECB-AC9C-D8B615D25E24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BE5DECEE9017534DA6A25D7870CA489F" ma:contentTypeVersion="16" ma:contentTypeDescription="Új dokumentum létrehozása." ma:contentTypeScope="" ma:versionID="d560023d63cfa2f082ac87a04bc03b97">
  <xsd:schema xmlns:xsd="http://www.w3.org/2001/XMLSchema" xmlns:xs="http://www.w3.org/2001/XMLSchema" xmlns:p="http://schemas.microsoft.com/office/2006/metadata/properties" xmlns:ns3="3169fdca-1bd5-411d-87f6-0f391f3a3b23" xmlns:ns4="9678aa68-8b24-47a4-b29a-8eb82e642366" targetNamespace="http://schemas.microsoft.com/office/2006/metadata/properties" ma:root="true" ma:fieldsID="368d10574093d4193787956639504213" ns3:_="" ns4:_="">
    <xsd:import namespace="3169fdca-1bd5-411d-87f6-0f391f3a3b23"/>
    <xsd:import namespace="9678aa68-8b24-47a4-b29a-8eb82e642366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SearchProperties" minOccurs="0"/>
                <xsd:element ref="ns3:MediaServiceDateTaken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9fdca-1bd5-411d-87f6-0f391f3a3b23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78aa68-8b24-47a4-b29a-8eb82e642366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Résztvevők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Megosztva részletekkel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Megosztási tipp kivonat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169fdca-1bd5-411d-87f6-0f391f3a3b23" xsi:nil="true"/>
  </documentManagement>
</p:properties>
</file>

<file path=customXml/itemProps1.xml><?xml version="1.0" encoding="utf-8"?>
<ds:datastoreItem xmlns:ds="http://schemas.openxmlformats.org/officeDocument/2006/customXml" ds:itemID="{3CEE843C-55E1-4DCE-80A8-A6768C09B4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69fdca-1bd5-411d-87f6-0f391f3a3b23"/>
    <ds:schemaRef ds:uri="9678aa68-8b24-47a4-b29a-8eb82e6423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6D8A322-AD31-42BE-AE39-276308545E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86DB4A-8097-4036-A3D8-C9C0F2F18C9C}">
  <ds:schemaRefs>
    <ds:schemaRef ds:uri="http://purl.org/dc/dcmitype/"/>
    <ds:schemaRef ds:uri="http://purl.org/dc/elements/1.1/"/>
    <ds:schemaRef ds:uri="http://purl.org/dc/terms/"/>
    <ds:schemaRef ds:uri="3169fdca-1bd5-411d-87f6-0f391f3a3b23"/>
    <ds:schemaRef ds:uri="9678aa68-8b24-47a4-b29a-8eb82e642366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{340D95F9-3F09-4E5D-8FB0-491DED040BB3}TF201209c3-d067-44f9-a26f-c8f216c443133f56370f_win32-6e0c0817a995</Template>
  <TotalTime>38</TotalTime>
  <Words>193</Words>
  <Application>Microsoft Office PowerPoint</Application>
  <PresentationFormat>Szélesvásznú</PresentationFormat>
  <Paragraphs>40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4" baseType="lpstr">
      <vt:lpstr>Calibri</vt:lpstr>
      <vt:lpstr>Franklin Gothic Book</vt:lpstr>
      <vt:lpstr>Franklin Gothic Demi</vt:lpstr>
      <vt:lpstr>Wingdings 2</vt:lpstr>
      <vt:lpstr>DividendVTI</vt:lpstr>
      <vt:lpstr>SQLalchemy, SQLite</vt:lpstr>
      <vt:lpstr>Adatbázis kapcsolat, engine és base</vt:lpstr>
      <vt:lpstr>Packages, DBPATH</vt:lpstr>
      <vt:lpstr>Táblák az adatbázisban</vt:lpstr>
      <vt:lpstr>A DB és a táblák létrehozása (sqlalchemy és SQLite)</vt:lpstr>
      <vt:lpstr>Táblák létrehozása</vt:lpstr>
      <vt:lpstr>Session és Query-k </vt:lpstr>
      <vt:lpstr>Session és Query-k </vt:lpstr>
      <vt:lpstr>Session és Query-k - delete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Király Roland</dc:creator>
  <cp:lastModifiedBy>Király Roland</cp:lastModifiedBy>
  <cp:revision>2</cp:revision>
  <dcterms:created xsi:type="dcterms:W3CDTF">2025-11-02T06:40:54Z</dcterms:created>
  <dcterms:modified xsi:type="dcterms:W3CDTF">2025-11-02T07:19:06Z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0x010100BE5DECEE9017534DA6A25D7870CA489F</vt:lpwstr>
  </property>
</Properties>
</file>