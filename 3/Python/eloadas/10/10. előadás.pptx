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6" r:id="rId2"/>
    <p:sldId id="287" r:id="rId3"/>
    <p:sldId id="256" r:id="rId4"/>
    <p:sldId id="269" r:id="rId5"/>
    <p:sldId id="268" r:id="rId6"/>
    <p:sldId id="257" r:id="rId7"/>
    <p:sldId id="258" r:id="rId8"/>
    <p:sldId id="263" r:id="rId9"/>
    <p:sldId id="264" r:id="rId10"/>
    <p:sldId id="277" r:id="rId11"/>
    <p:sldId id="265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0" r:id="rId21"/>
    <p:sldId id="290" r:id="rId22"/>
    <p:sldId id="289" r:id="rId23"/>
    <p:sldId id="280" r:id="rId24"/>
    <p:sldId id="281" r:id="rId25"/>
    <p:sldId id="291" r:id="rId26"/>
    <p:sldId id="279" r:id="rId27"/>
    <p:sldId id="259" r:id="rId28"/>
    <p:sldId id="282" r:id="rId29"/>
    <p:sldId id="283" r:id="rId30"/>
    <p:sldId id="285" r:id="rId31"/>
    <p:sldId id="284" r:id="rId3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2"/>
    <p:restoredTop sz="94682"/>
  </p:normalViewPr>
  <p:slideViewPr>
    <p:cSldViewPr snapToGrid="0">
      <p:cViewPr varScale="1">
        <p:scale>
          <a:sx n="111" d="100"/>
          <a:sy n="111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9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7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67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4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6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41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4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5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21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s231n.github.io/neural-networks-case-study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92E04C-0CD0-A269-5A3C-1511881AC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850" y="479601"/>
            <a:ext cx="9144000" cy="253690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sz="56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hu-HU" sz="5600" b="1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Előadás</a:t>
            </a:r>
            <a:br>
              <a:rPr lang="hu-HU" dirty="0"/>
            </a:br>
            <a:r>
              <a:rPr lang="hu-H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kurzus</a:t>
            </a:r>
            <a:endParaRPr lang="hu-H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2871FA1-6D34-6A91-4196-5E8F1EAA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270" y="4075772"/>
            <a:ext cx="11326022" cy="2185445"/>
          </a:xfrm>
        </p:spPr>
        <p:txBody>
          <a:bodyPr>
            <a:normAutofit/>
          </a:bodyPr>
          <a:lstStyle/>
          <a:p>
            <a:pPr algn="l"/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Tárgyfelelős: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Előadó:</a:t>
            </a:r>
          </a:p>
          <a:p>
            <a:pPr algn="l"/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Tejfel Máté                        Dr. Király Roland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315A9097-21BF-AE69-4702-245B8A7049AE}"/>
              </a:ext>
            </a:extLst>
          </p:cNvPr>
          <p:cNvPicPr/>
          <p:nvPr/>
        </p:nvPicPr>
        <p:blipFill>
          <a:blip r:embed="rId2" cstate="print"/>
          <a:srcRect b="34442"/>
          <a:stretch/>
        </p:blipFill>
        <p:spPr>
          <a:xfrm>
            <a:off x="8532699" y="1031683"/>
            <a:ext cx="1942013" cy="143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33FA03-0BBE-8A15-D902-B25EF4A0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170198"/>
            <a:ext cx="10515600" cy="1768475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800"/>
              </a:spcAft>
            </a:pPr>
            <a:r>
              <a:rPr lang="hu-HU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</a:t>
            </a:r>
            <a:r>
              <a:rPr lang="hu-HU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Előadás</a:t>
            </a:r>
            <a:br>
              <a:rPr lang="hu-HU" sz="4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4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</a:t>
            </a:r>
            <a:r>
              <a:rPr lang="hu-HU" sz="3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Neurális háló </a:t>
            </a:r>
            <a:r>
              <a:rPr lang="hu-HU" sz="3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hu-HU" sz="3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ython nyelvű implementációja</a:t>
            </a:r>
            <a:endParaRPr lang="hu-HU" sz="36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05C02F-0D97-C222-9A80-998750A28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89" y="1754660"/>
            <a:ext cx="10178143" cy="42288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Neurális hálók működése, mélytanulás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Layerek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Súlyok és bemenetek szorzata, probléma, transzponált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Aktivációs függvények,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Neurális háló Python implementációja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hu-HU" sz="30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mélytanulás, back </a:t>
            </a:r>
            <a:r>
              <a:rPr lang="hu-HU" sz="30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  <a:endParaRPr lang="hu-HU" sz="30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8E6453C-C041-0B8F-FF35-14E1A5D3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6B40-9665-4BAE-B750-5A40CB73215F}" type="slidenum">
              <a:rPr lang="hu-HU" sz="1500" b="1" smtClean="0"/>
              <a:pPr/>
              <a:t>2</a:t>
            </a:fld>
            <a:endParaRPr lang="hu-HU" sz="1500" b="1" dirty="0"/>
          </a:p>
        </p:txBody>
      </p:sp>
    </p:spTree>
    <p:extLst>
      <p:ext uri="{BB962C8B-B14F-4D97-AF65-F5344CB8AC3E}">
        <p14:creationId xmlns:p14="http://schemas.microsoft.com/office/powerpoint/2010/main" val="337362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Hálózatos műszaki háttér">
            <a:extLst>
              <a:ext uri="{FF2B5EF4-FFF2-40B4-BE49-F238E27FC236}">
                <a16:creationId xmlns:a16="http://schemas.microsoft.com/office/drawing/2014/main" id="{44F7D54C-FCA5-3B28-EB1F-3D3D904B9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15294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84A32F-9AC6-3C42-39DA-9A4AA6DEC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59031"/>
            <a:ext cx="7950514" cy="870008"/>
          </a:xfrm>
        </p:spPr>
        <p:txBody>
          <a:bodyPr anchor="ctr">
            <a:normAutofit/>
          </a:bodyPr>
          <a:lstStyle/>
          <a:p>
            <a:r>
              <a:rPr lang="hu-HU" sz="4800" dirty="0">
                <a:solidFill>
                  <a:srgbClr val="FFFFFF"/>
                </a:solidFill>
              </a:rPr>
              <a:t>Neurális hálók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E538DF5-CE7C-CE71-1966-804AE8A48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8323" y="159031"/>
            <a:ext cx="3525868" cy="870008"/>
          </a:xfrm>
        </p:spPr>
        <p:txBody>
          <a:bodyPr anchor="ctr">
            <a:normAutofit/>
          </a:bodyPr>
          <a:lstStyle/>
          <a:p>
            <a:pPr algn="r"/>
            <a:r>
              <a:rPr lang="hu-HU" sz="1600" dirty="0">
                <a:solidFill>
                  <a:srgbClr val="FFFFFF"/>
                </a:solidFill>
              </a:rPr>
              <a:t>Python nyelvű implementációja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25B8EB-C8DD-E579-2093-D182FC5B0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576072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73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713C4C-221B-FCCC-982E-06E9FC7C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31733"/>
            <a:ext cx="10890929" cy="1097280"/>
          </a:xfrm>
        </p:spPr>
        <p:txBody>
          <a:bodyPr/>
          <a:lstStyle/>
          <a:p>
            <a:r>
              <a:rPr lang="hu-HU" dirty="0" err="1"/>
              <a:t>Prediktálás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D69F8B-B7D4-BAC5-151F-AD39946F0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556233"/>
            <a:ext cx="10890928" cy="3566160"/>
          </a:xfrm>
        </p:spPr>
        <p:txBody>
          <a:bodyPr>
            <a:noAutofit/>
          </a:bodyPr>
          <a:lstStyle/>
          <a:p>
            <a:r>
              <a:rPr lang="hu-HU" sz="2400" b="1" dirty="0"/>
              <a:t>Osztályozás esetén, ahol a bemenet osztályának előrejelzése a cél (</a:t>
            </a:r>
            <a:r>
              <a:rPr lang="hu-HU" sz="2400" b="1" dirty="0" err="1"/>
              <a:t>predict</a:t>
            </a:r>
            <a:r>
              <a:rPr lang="hu-HU" sz="2400" b="1" dirty="0"/>
              <a:t>). </a:t>
            </a:r>
          </a:p>
          <a:p>
            <a:r>
              <a:rPr lang="hu-HU" sz="2400" b="1" dirty="0"/>
              <a:t>A kimeneti réteg gyakran annyi neuronnal rendelkezik, ahány osztálya van a képzési adathalmaznak (pl.: ajtó, ablak, szék, asztal esetén négy)</a:t>
            </a:r>
          </a:p>
          <a:p>
            <a:r>
              <a:rPr lang="hu-HU" sz="2400" b="1" dirty="0"/>
              <a:t>Bináris osztályozás esetén egyetlen kimeneti neuron is elegendő.</a:t>
            </a:r>
          </a:p>
          <a:p>
            <a:r>
              <a:rPr lang="hu-HU" sz="2400" b="1" dirty="0"/>
              <a:t> Ha például egy képgyűjteményt „kutya” vagy „macska” kategóriába sorolunk, akkor összesen két osztály van.</a:t>
            </a:r>
          </a:p>
          <a:p>
            <a:r>
              <a:rPr lang="hu-HU" sz="2400" b="1" dirty="0"/>
              <a:t>Ez azt jelenti, hogy a kimeneti rétegünk két neuronból fog állni; az egyik neuron a „kutyához”, a másik pedig a „macskához” kapcsolódik. </a:t>
            </a:r>
          </a:p>
          <a:p>
            <a:r>
              <a:rPr lang="hu-HU" sz="2400" b="1" dirty="0"/>
              <a:t>Lehetne egyetlen kimeneti neuron is, amely a „kutya” vagy a „nem kutya”.</a:t>
            </a:r>
          </a:p>
        </p:txBody>
      </p:sp>
    </p:spTree>
    <p:extLst>
      <p:ext uri="{BB962C8B-B14F-4D97-AF65-F5344CB8AC3E}">
        <p14:creationId xmlns:p14="http://schemas.microsoft.com/office/powerpoint/2010/main" val="282011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D14DF5D-5ED2-5423-478D-5ABB0342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1" y="523416"/>
            <a:ext cx="10536075" cy="7096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 err="1"/>
              <a:t>Neurális</a:t>
            </a:r>
            <a:r>
              <a:rPr lang="en-US" sz="4400" dirty="0"/>
              <a:t> </a:t>
            </a:r>
            <a:r>
              <a:rPr lang="en-US" sz="4400" dirty="0" err="1"/>
              <a:t>hálók</a:t>
            </a:r>
            <a:r>
              <a:rPr lang="en-US" sz="4400" dirty="0"/>
              <a:t> - a </a:t>
            </a:r>
            <a:r>
              <a:rPr lang="en-US" sz="4400" dirty="0" err="1">
                <a:solidFill>
                  <a:schemeClr val="tx2"/>
                </a:solidFill>
              </a:rPr>
              <a:t>cél</a:t>
            </a:r>
            <a:r>
              <a:rPr lang="en-US" sz="4400" dirty="0">
                <a:solidFill>
                  <a:srgbClr val="FF0000"/>
                </a:solidFill>
              </a:rPr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A1E8453C-0079-E4D9-B3CA-E9ADFB834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9100" y="1467193"/>
            <a:ext cx="7290648" cy="3864042"/>
          </a:xfrm>
          <a:prstGeom prst="rect">
            <a:avLst/>
          </a:prstGeom>
        </p:spPr>
      </p:pic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>
            <a:extLst>
              <a:ext uri="{FF2B5EF4-FFF2-40B4-BE49-F238E27FC236}">
                <a16:creationId xmlns:a16="http://schemas.microsoft.com/office/drawing/2014/main" id="{0FB7DA95-605A-A778-0D19-566AC1AB9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846" y="2471133"/>
            <a:ext cx="1882390" cy="2227185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E800606-C7CE-E807-7B50-4BB067A25CCA}"/>
              </a:ext>
            </a:extLst>
          </p:cNvPr>
          <p:cNvSpPr txBox="1"/>
          <p:nvPr/>
        </p:nvSpPr>
        <p:spPr>
          <a:xfrm>
            <a:off x="713232" y="5147405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 </a:t>
            </a:r>
            <a:r>
              <a:rPr lang="en-US" dirty="0" err="1">
                <a:solidFill>
                  <a:schemeClr val="tx2"/>
                </a:solidFill>
              </a:rPr>
              <a:t>kiszámolt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eredmény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és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az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elvárt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érték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közötti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különbség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minimalizálása</a:t>
            </a:r>
            <a:r>
              <a:rPr lang="en-US" dirty="0">
                <a:solidFill>
                  <a:schemeClr val="tx2"/>
                </a:solidFill>
              </a:rPr>
              <a:t>. </a:t>
            </a:r>
            <a:r>
              <a:rPr lang="en-US" dirty="0" err="1">
                <a:solidFill>
                  <a:schemeClr val="tx2"/>
                </a:solidFill>
              </a:rPr>
              <a:t>Veszteség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kiszámítása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majd</a:t>
            </a:r>
            <a:r>
              <a:rPr lang="en-US" dirty="0">
                <a:solidFill>
                  <a:schemeClr val="tx2"/>
                </a:solidFill>
              </a:rPr>
              <a:t> a </a:t>
            </a:r>
            <a:r>
              <a:rPr lang="en-US" dirty="0" err="1">
                <a:solidFill>
                  <a:schemeClr val="tx2"/>
                </a:solidFill>
              </a:rPr>
              <a:t>súlyok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módosítása</a:t>
            </a:r>
            <a:r>
              <a:rPr lang="en-US" dirty="0">
                <a:solidFill>
                  <a:schemeClr val="tx2"/>
                </a:solidFill>
              </a:rPr>
              <a:t>.</a:t>
            </a:r>
            <a:endParaRPr lang="hu-HU" dirty="0"/>
          </a:p>
        </p:txBody>
      </p:sp>
      <p:sp>
        <p:nvSpPr>
          <p:cNvPr id="8" name="Lefelé mutató nyíl 7">
            <a:extLst>
              <a:ext uri="{FF2B5EF4-FFF2-40B4-BE49-F238E27FC236}">
                <a16:creationId xmlns:a16="http://schemas.microsoft.com/office/drawing/2014/main" id="{3327DC92-0F3C-FE05-9DA5-C1606C22EE7C}"/>
              </a:ext>
            </a:extLst>
          </p:cNvPr>
          <p:cNvSpPr/>
          <p:nvPr/>
        </p:nvSpPr>
        <p:spPr>
          <a:xfrm>
            <a:off x="8106031" y="1364051"/>
            <a:ext cx="494271" cy="10132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F6324A2E-0EB4-77C3-D1F1-22134F30F797}"/>
              </a:ext>
            </a:extLst>
          </p:cNvPr>
          <p:cNvSpPr txBox="1"/>
          <p:nvPr/>
        </p:nvSpPr>
        <p:spPr>
          <a:xfrm>
            <a:off x="7881221" y="860570"/>
            <a:ext cx="2566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Neuron</a:t>
            </a:r>
            <a:endParaRPr lang="hu-H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81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B6661DA-9AC9-787A-5107-1EAD61B8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1031001"/>
            <a:ext cx="5752093" cy="1097280"/>
          </a:xfrm>
        </p:spPr>
        <p:txBody>
          <a:bodyPr>
            <a:normAutofit fontScale="90000"/>
          </a:bodyPr>
          <a:lstStyle/>
          <a:p>
            <a:r>
              <a:rPr lang="hu-HU" dirty="0"/>
              <a:t>Egyszerű neuron (</a:t>
            </a:r>
            <a:r>
              <a:rPr lang="hu-HU" dirty="0" err="1"/>
              <a:t>perceptron</a:t>
            </a:r>
            <a:r>
              <a:rPr lang="hu-HU" dirty="0"/>
              <a:t>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F403C5-53F6-1D9E-A5CC-C83D7600B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u-HU" b="0" dirty="0">
                <a:effectLst/>
                <a:latin typeface="Menlo" panose="020B0609030804020204" pitchFamily="49" charset="0"/>
              </a:rPr>
              <a:t>Pl.:</a:t>
            </a:r>
          </a:p>
          <a:p>
            <a:pPr>
              <a:buNone/>
            </a:pPr>
            <a:r>
              <a:rPr lang="hu-HU" b="0" dirty="0" err="1">
                <a:effectLst/>
                <a:latin typeface="Menlo" panose="020B0609030804020204" pitchFamily="49" charset="0"/>
              </a:rPr>
              <a:t>inputs</a:t>
            </a:r>
            <a:r>
              <a:rPr lang="hu-HU" b="0" dirty="0">
                <a:effectLst/>
                <a:latin typeface="Menlo" panose="020B0609030804020204" pitchFamily="49" charset="0"/>
              </a:rPr>
              <a:t> = [1.0, 2.0, 3.0, 2.5]</a:t>
            </a:r>
          </a:p>
          <a:p>
            <a:pPr>
              <a:buNone/>
            </a:pPr>
            <a:r>
              <a:rPr lang="hu-HU" b="0" dirty="0" err="1">
                <a:effectLst/>
                <a:latin typeface="Menlo" panose="020B0609030804020204" pitchFamily="49" charset="0"/>
              </a:rPr>
              <a:t>weigths</a:t>
            </a:r>
            <a:r>
              <a:rPr lang="hu-HU" b="0" dirty="0">
                <a:effectLst/>
                <a:latin typeface="Menlo" panose="020B0609030804020204" pitchFamily="49" charset="0"/>
              </a:rPr>
              <a:t> = [0.2, 0.8, -0.5, 1.0]</a:t>
            </a:r>
          </a:p>
          <a:p>
            <a:pPr marL="0" indent="0">
              <a:buNone/>
            </a:pPr>
            <a:r>
              <a:rPr lang="hu-HU" b="0" dirty="0" err="1">
                <a:effectLst/>
                <a:latin typeface="Menlo" panose="020B0609030804020204" pitchFamily="49" charset="0"/>
              </a:rPr>
              <a:t>bias</a:t>
            </a:r>
            <a:r>
              <a:rPr lang="hu-HU" b="0" dirty="0">
                <a:effectLst/>
                <a:latin typeface="Menlo" panose="020B0609030804020204" pitchFamily="49" charset="0"/>
              </a:rPr>
              <a:t> = 2.0</a:t>
            </a:r>
          </a:p>
          <a:p>
            <a:pPr marL="0" indent="0">
              <a:buNone/>
            </a:pPr>
            <a:endParaRPr lang="hu-HU" dirty="0"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hu-HU" dirty="0">
                <a:solidFill>
                  <a:srgbClr val="FF0000"/>
                </a:solidFill>
              </a:rPr>
              <a:t>(</a:t>
            </a:r>
            <a:r>
              <a:rPr lang="hu-HU" dirty="0" err="1">
                <a:solidFill>
                  <a:srgbClr val="FF0000"/>
                </a:solidFill>
              </a:rPr>
              <a:t>VSCode</a:t>
            </a:r>
            <a:r>
              <a:rPr lang="hu-HU" dirty="0">
                <a:solidFill>
                  <a:srgbClr val="FF0000"/>
                </a:solidFill>
              </a:rPr>
              <a:t> – </a:t>
            </a:r>
            <a:r>
              <a:rPr lang="hu-HU" dirty="0" err="1">
                <a:solidFill>
                  <a:srgbClr val="FF0000"/>
                </a:solidFill>
              </a:rPr>
              <a:t>single.py</a:t>
            </a:r>
            <a:r>
              <a:rPr lang="hu-HU" dirty="0">
                <a:solidFill>
                  <a:srgbClr val="FF0000"/>
                </a:solidFill>
              </a:rPr>
              <a:t>)</a:t>
            </a:r>
            <a:endParaRPr lang="hu-HU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6E2216D-F41D-5B4E-A33F-09F71D24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336" y="510914"/>
            <a:ext cx="4250585" cy="212529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F992A79-1614-9200-44E3-9AC82DC41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762" y="2636205"/>
            <a:ext cx="4250585" cy="405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5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EB7F33-E274-9065-5E0B-15E9001C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4988"/>
            <a:ext cx="10890929" cy="1097280"/>
          </a:xfrm>
        </p:spPr>
        <p:txBody>
          <a:bodyPr/>
          <a:lstStyle/>
          <a:p>
            <a:r>
              <a:rPr lang="hu-HU" dirty="0"/>
              <a:t>Mesterséges neuron és neurális háló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73C348-DF4A-7549-29B8-0490F77D4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32268"/>
            <a:ext cx="10890928" cy="5290743"/>
          </a:xfrm>
        </p:spPr>
        <p:txBody>
          <a:bodyPr>
            <a:noAutofit/>
          </a:bodyPr>
          <a:lstStyle/>
          <a:p>
            <a:r>
              <a:rPr lang="hu-HU" sz="2400" b="1" dirty="0" err="1"/>
              <a:t>Weight</a:t>
            </a:r>
            <a:r>
              <a:rPr lang="hu-HU" sz="2400" b="1" dirty="0"/>
              <a:t>: A neuron minden bemenetéhez (x) tartozik egy súly (</a:t>
            </a:r>
            <a:r>
              <a:rPr lang="hu-HU" sz="2400" b="1" dirty="0" err="1"/>
              <a:t>w</a:t>
            </a:r>
            <a:r>
              <a:rPr lang="hu-HU" sz="2400" b="1" dirty="0"/>
              <a:t>), amelyet a többi bemenethez viszonyított relatív fontossága alapján rendelünk hozzá.</a:t>
            </a:r>
          </a:p>
          <a:p>
            <a:r>
              <a:rPr lang="hu-HU" sz="2400" b="1" dirty="0"/>
              <a:t>A neuron úgy működik, hogy ha a bemenetek súlyozott összege nagyobb, mint egy bizonyos küszöbérték, akkor 1 kimenetet ad, egyébként 0-t. Ez a neuron matematikai modellje (amit </a:t>
            </a:r>
            <a:r>
              <a:rPr lang="hu-HU" sz="2400" b="1" dirty="0" err="1"/>
              <a:t>perceptronnak</a:t>
            </a:r>
            <a:r>
              <a:rPr lang="hu-HU" sz="2400" b="1" dirty="0"/>
              <a:t> is neveznek).</a:t>
            </a:r>
          </a:p>
          <a:p>
            <a:r>
              <a:rPr lang="hu-HU" sz="2400" b="1" dirty="0" err="1"/>
              <a:t>Bias</a:t>
            </a:r>
            <a:r>
              <a:rPr lang="hu-HU" sz="2400" b="1" dirty="0"/>
              <a:t>: egy konstans, amelyet a bemenetek súlyozott összegével együtt a kimenet beállítására használunk, hogy a modell a lehető legjobban illeszkedjen az adott feladathoz.</a:t>
            </a:r>
          </a:p>
          <a:p>
            <a:pPr marL="0" indent="0">
              <a:buNone/>
            </a:pPr>
            <a:r>
              <a:rPr lang="hu-HU" sz="2400" b="1" dirty="0" err="1">
                <a:solidFill>
                  <a:srgbClr val="FF0000"/>
                </a:solidFill>
              </a:rPr>
              <a:t>Z</a:t>
            </a:r>
            <a:r>
              <a:rPr lang="hu-HU" sz="2400" b="1" dirty="0">
                <a:solidFill>
                  <a:srgbClr val="FF0000"/>
                </a:solidFill>
              </a:rPr>
              <a:t> = </a:t>
            </a:r>
            <a:r>
              <a:rPr lang="hu-HU" sz="2400" b="1" dirty="0" err="1">
                <a:solidFill>
                  <a:srgbClr val="FF0000"/>
                </a:solidFill>
              </a:rPr>
              <a:t>W</a:t>
            </a:r>
            <a:r>
              <a:rPr lang="hu-HU" sz="2400" b="1" dirty="0">
                <a:solidFill>
                  <a:srgbClr val="FF0000"/>
                </a:solidFill>
              </a:rPr>
              <a:t>*X+B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DBA8274-02A3-DA05-EDC2-AAB7FAF9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343" y="4793673"/>
            <a:ext cx="4128657" cy="206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2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31AFEC0-8A44-2262-991C-312933CF4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041" y="1442367"/>
            <a:ext cx="5282608" cy="425185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FB9579F-3D72-AA20-BCD6-17F937BE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21674"/>
            <a:ext cx="10890929" cy="1097280"/>
          </a:xfrm>
        </p:spPr>
        <p:txBody>
          <a:bodyPr/>
          <a:lstStyle/>
          <a:p>
            <a:r>
              <a:rPr lang="hu-HU" dirty="0"/>
              <a:t>Eredmény kiszámítása egyetlen neuronra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7BE16A-5225-DF82-935A-7F9AB9F2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814945"/>
            <a:ext cx="10890928" cy="4384687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endParaRPr lang="hu-HU" sz="2400" b="1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[1.0, 2.0, 3.0, 2.5]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weigths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[0.2, 0.8, -0.5, 1.0]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bias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2.0</a:t>
            </a:r>
          </a:p>
          <a:p>
            <a:pPr>
              <a:lnSpc>
                <a:spcPts val="2250"/>
              </a:lnSpc>
              <a:buNone/>
            </a:pP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outputs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np.dot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weigths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 +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bias</a:t>
            </a: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b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</a:b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outputs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 # -&gt; 4.8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b="1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VSCode</a:t>
            </a: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-ban (</a:t>
            </a:r>
            <a:r>
              <a:rPr lang="hu-HU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single.py</a:t>
            </a: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)</a:t>
            </a:r>
            <a:endParaRPr lang="hu-HU" sz="240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5580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99FBE86B-6565-DF0B-2528-34FC9972B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398" y="-179505"/>
            <a:ext cx="3599733" cy="494124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D12250-C684-5589-3EB3-B7E6E15E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19456"/>
            <a:ext cx="10890929" cy="1097280"/>
          </a:xfrm>
        </p:spPr>
        <p:txBody>
          <a:bodyPr/>
          <a:lstStyle/>
          <a:p>
            <a:r>
              <a:rPr lang="hu-HU" dirty="0"/>
              <a:t>Ugyanez egy </a:t>
            </a:r>
            <a:r>
              <a:rPr lang="hu-HU" dirty="0" err="1"/>
              <a:t>layer</a:t>
            </a:r>
            <a:r>
              <a:rPr lang="hu-HU" dirty="0"/>
              <a:t> esetén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4204B0-84F1-7A69-6A18-BE2FA68E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83410"/>
            <a:ext cx="10890928" cy="5038283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r>
              <a:rPr lang="hu-HU" sz="24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VSCode</a:t>
            </a:r>
            <a:r>
              <a:rPr lang="hu-HU" sz="24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-ban (</a:t>
            </a:r>
            <a:r>
              <a:rPr lang="hu-HU" sz="24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layer.py</a:t>
            </a:r>
            <a:r>
              <a:rPr lang="hu-HU" sz="24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[1.0, 2.0, 3.0, 2.5]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weights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[[0.2, 0.8, -0.5, 1],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[0.5, -0.91, 0.26, -0.5],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[-0.26, -0.27, 0.17, 0.87]]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biases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[2.0, 3.0, 0.5]</a:t>
            </a:r>
          </a:p>
          <a:p>
            <a:pPr>
              <a:lnSpc>
                <a:spcPts val="2250"/>
              </a:lnSpc>
              <a:buNone/>
            </a:pP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layer_output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np.dot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weights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 +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biases</a:t>
            </a: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b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</a:b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layer_output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 # [4.8   1.21  2.385]</a:t>
            </a:r>
          </a:p>
        </p:txBody>
      </p:sp>
    </p:spTree>
    <p:extLst>
      <p:ext uri="{BB962C8B-B14F-4D97-AF65-F5344CB8AC3E}">
        <p14:creationId xmlns:p14="http://schemas.microsoft.com/office/powerpoint/2010/main" val="177858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EE8F7F-8324-F69B-C5C0-BED8AD0A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509" y="219338"/>
            <a:ext cx="6175584" cy="1097280"/>
          </a:xfrm>
        </p:spPr>
        <p:txBody>
          <a:bodyPr>
            <a:normAutofit/>
          </a:bodyPr>
          <a:lstStyle/>
          <a:p>
            <a:r>
              <a:rPr lang="hu-HU" dirty="0" err="1"/>
              <a:t>Layerek</a:t>
            </a:r>
            <a:r>
              <a:rPr lang="hu-HU" dirty="0"/>
              <a:t> (probléma)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C2A8A1C-AD86-E021-B042-5240C34D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39" r="14045" b="-2"/>
          <a:stretch/>
        </p:blipFill>
        <p:spPr>
          <a:xfrm>
            <a:off x="355108" y="767760"/>
            <a:ext cx="3806238" cy="532247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7BD8F1-3E64-90A0-AFB9-EC2A5AB1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658" y="1183410"/>
            <a:ext cx="7924800" cy="5134267"/>
          </a:xfrm>
        </p:spPr>
        <p:txBody>
          <a:bodyPr>
            <a:normAutofit fontScale="92500"/>
          </a:bodyPr>
          <a:lstStyle/>
          <a:p>
            <a:r>
              <a:rPr lang="hu-HU" sz="2400" dirty="0"/>
              <a:t>Pl.: </a:t>
            </a:r>
          </a:p>
          <a:p>
            <a:pPr lvl="1"/>
            <a:r>
              <a:rPr lang="hu-HU" sz="2400" dirty="0"/>
              <a:t>Egy bemeneti </a:t>
            </a:r>
            <a:r>
              <a:rPr lang="hu-HU" sz="2400" dirty="0" err="1"/>
              <a:t>layer</a:t>
            </a:r>
            <a:r>
              <a:rPr lang="hu-HU" sz="2400" dirty="0"/>
              <a:t>, két </a:t>
            </a:r>
            <a:r>
              <a:rPr lang="hu-HU" sz="2400" dirty="0" err="1"/>
              <a:t>hidden</a:t>
            </a:r>
            <a:r>
              <a:rPr lang="hu-HU" sz="2400" dirty="0"/>
              <a:t> </a:t>
            </a:r>
            <a:r>
              <a:rPr lang="hu-HU" sz="2400" dirty="0" err="1"/>
              <a:t>layer</a:t>
            </a:r>
            <a:r>
              <a:rPr lang="hu-HU" sz="2400" dirty="0"/>
              <a:t> más neuronszámmal.</a:t>
            </a:r>
          </a:p>
          <a:p>
            <a:pPr lvl="1"/>
            <a:r>
              <a:rPr lang="hu-HU" sz="2400" dirty="0"/>
              <a:t>Input és </a:t>
            </a:r>
            <a:r>
              <a:rPr lang="hu-HU" sz="2400" dirty="0" err="1"/>
              <a:t>hidden</a:t>
            </a:r>
            <a:r>
              <a:rPr lang="hu-HU" sz="2400" dirty="0"/>
              <a:t> </a:t>
            </a:r>
            <a:r>
              <a:rPr lang="hu-HU" sz="2400" dirty="0" err="1"/>
              <a:t>layer</a:t>
            </a:r>
            <a:r>
              <a:rPr lang="hu-HU" sz="2400" dirty="0"/>
              <a:t> esetén egyeznek a dimenziók.</a:t>
            </a:r>
          </a:p>
          <a:p>
            <a:pPr lvl="1"/>
            <a:r>
              <a:rPr lang="hu-HU" sz="2400" b="1" dirty="0" err="1"/>
              <a:t>Layerek</a:t>
            </a:r>
            <a:r>
              <a:rPr lang="hu-HU" sz="2400" b="1" dirty="0"/>
              <a:t> típusa a neurális hálóban.</a:t>
            </a:r>
          </a:p>
          <a:p>
            <a:pPr lvl="1"/>
            <a:endParaRPr lang="hu-HU" sz="2400" dirty="0"/>
          </a:p>
          <a:p>
            <a:pPr>
              <a:lnSpc>
                <a:spcPts val="2250"/>
              </a:lnSpc>
              <a:buNone/>
            </a:pPr>
            <a:r>
              <a:rPr lang="hu-HU" sz="240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[[1, 2, 3, 2.5],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[2., 5., -1., 2],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[-1.5, 2.7, 3.3, -0.8]]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weights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[[0.2, 0.8, -0.5, 1],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 [0.5, -0.91, 0.26, -0.5],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 [-0.26, -0.27, 0.17, 0.87]]</a:t>
            </a:r>
          </a:p>
        </p:txBody>
      </p:sp>
    </p:spTree>
    <p:extLst>
      <p:ext uri="{BB962C8B-B14F-4D97-AF65-F5344CB8AC3E}">
        <p14:creationId xmlns:p14="http://schemas.microsoft.com/office/powerpoint/2010/main" val="2494244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A50A3D-178B-A736-1B59-F39E7111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3" y="293411"/>
            <a:ext cx="10890929" cy="1097280"/>
          </a:xfrm>
        </p:spPr>
        <p:txBody>
          <a:bodyPr/>
          <a:lstStyle/>
          <a:p>
            <a:r>
              <a:rPr lang="hu-HU" dirty="0"/>
              <a:t>Több rejtett </a:t>
            </a:r>
            <a:r>
              <a:rPr lang="hu-HU" dirty="0" err="1"/>
              <a:t>Layer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7F8410-7FD6-65CB-BA9B-3F874D72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14137"/>
            <a:ext cx="10890928" cy="4785495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mátrixszorzat elvégzéséhez a bal oldali mátrix második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dimenziójának méretének meg kell egyeznie a jobb oldali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mátrix első dimenziójának méretével.</a:t>
            </a: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P.: ha a bal oldali mátrix alakja (</a:t>
            </a:r>
            <a:r>
              <a:rPr lang="hu-HU" sz="2400" b="0" dirty="0">
                <a:solidFill>
                  <a:schemeClr val="accent1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hu-HU" sz="24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),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akkor a jobboldali mátrixnak meg kell egyeznie ezzel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4-gyel az első alaki értéken belül (</a:t>
            </a:r>
            <a:r>
              <a:rPr lang="hu-HU" sz="2400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hu-HU" sz="2400" b="0" dirty="0">
                <a:solidFill>
                  <a:schemeClr val="accent1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).</a:t>
            </a:r>
          </a:p>
          <a:p>
            <a:pPr>
              <a:lnSpc>
                <a:spcPts val="2250"/>
              </a:lnSpc>
              <a:buNone/>
            </a:pPr>
            <a:endParaRPr lang="hu-H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Az eredményül kapott mátrix alakja mindig a bal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oldali mátrix első dimenziója és a jobb oldali mátrix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második dimenziója, (</a:t>
            </a:r>
            <a:r>
              <a:rPr lang="hu-HU" sz="2400" dirty="0">
                <a:solidFill>
                  <a:schemeClr val="accent1">
                    <a:lumMod val="75000"/>
                  </a:schemeClr>
                </a:solidFill>
                <a:latin typeface="Menlo" panose="020B0609030804020204" pitchFamily="49" charset="0"/>
              </a:rPr>
              <a:t>5, 7</a:t>
            </a: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).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9828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6091C-78CA-5408-A4BE-86789454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51" y="289559"/>
            <a:ext cx="11720945" cy="1097280"/>
          </a:xfrm>
        </p:spPr>
        <p:txBody>
          <a:bodyPr>
            <a:normAutofit fontScale="90000"/>
          </a:bodyPr>
          <a:lstStyle/>
          <a:p>
            <a:r>
              <a:rPr lang="hu-HU" sz="36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Az oszlop és a sorvektor technikailag mátrixok.</a:t>
            </a:r>
            <a:br>
              <a:rPr lang="hu-HU" sz="40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C771D8-7D85-35DB-4263-AFDD5A77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430" y="1848528"/>
            <a:ext cx="4082232" cy="3566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= [1 2 3] </a:t>
            </a:r>
          </a:p>
          <a:p>
            <a:pPr marL="0" indent="0">
              <a:buNone/>
            </a:pPr>
            <a:r>
              <a:rPr lang="hu-HU" sz="2400" dirty="0" err="1">
                <a:solidFill>
                  <a:schemeClr val="tx2"/>
                </a:solidFill>
                <a:latin typeface="Menlo" panose="020B0609030804020204" pitchFamily="49" charset="0"/>
              </a:rPr>
              <a:t>b</a:t>
            </a: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 = -</a:t>
            </a:r>
          </a:p>
          <a:p>
            <a:pPr marL="0" indent="0"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    2</a:t>
            </a:r>
          </a:p>
          <a:p>
            <a:pPr marL="0" indent="0"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    3</a:t>
            </a:r>
          </a:p>
          <a:p>
            <a:pPr marL="0" indent="0"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    4</a:t>
            </a:r>
          </a:p>
          <a:p>
            <a:pPr marL="0" indent="0"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    -</a:t>
            </a:r>
          </a:p>
          <a:p>
            <a:pPr marL="0" indent="0"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ab = [20]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B7E1318-39D6-8C7F-9C7B-D30ABBF007C5}"/>
              </a:ext>
            </a:extLst>
          </p:cNvPr>
          <p:cNvSpPr txBox="1">
            <a:spLocks/>
          </p:cNvSpPr>
          <p:nvPr/>
        </p:nvSpPr>
        <p:spPr>
          <a:xfrm>
            <a:off x="3419605" y="1234439"/>
            <a:ext cx="8404965" cy="4794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 sor és oszlopvektorok olyan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mátrixok, amelyek egyik dimenziója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1 (méretű)</a:t>
            </a: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Ha mátrixszorzatot hajtjuk végre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rajtuk a pontszorzat helyett, az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egyetlen értéket tartalmazó mátrixot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eredményez.</a:t>
            </a: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Ebben az esetben (1, 3) és (3, 1)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alakú mátrixok mátrixszorzatát végeztük el,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akkor az így kapott tömb (1, 1) alakú,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illetve 1x1 méretű az eredmény.</a:t>
            </a:r>
          </a:p>
        </p:txBody>
      </p:sp>
    </p:spTree>
    <p:extLst>
      <p:ext uri="{BB962C8B-B14F-4D97-AF65-F5344CB8AC3E}">
        <p14:creationId xmlns:p14="http://schemas.microsoft.com/office/powerpoint/2010/main" val="139514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E1007A-BF36-7488-4EE6-E3D413C9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56785"/>
            <a:ext cx="10890928" cy="1097280"/>
          </a:xfrm>
        </p:spPr>
        <p:txBody>
          <a:bodyPr>
            <a:normAutofit fontScale="90000"/>
          </a:bodyPr>
          <a:lstStyle/>
          <a:p>
            <a:r>
              <a:rPr lang="hu-HU" dirty="0"/>
              <a:t>Hogyan lett két vektorból sor és oszlopvektor? </a:t>
            </a:r>
            <a:br>
              <a:rPr lang="hu-HU" dirty="0"/>
            </a:b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DC3188-CA66-A610-7B03-C32DCE4C6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828800"/>
            <a:ext cx="10890928" cy="4370832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K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ét vektor pontszorzata egyenlő egy sor és egy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oszlopvektor mátrixszorzatával.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(a betűk feletti nyilak jelzik, hogy vektorokról van szó):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-&gt; -&gt;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 =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abT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75142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8AEF52-F619-7B0F-924B-5FB54AEA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21673"/>
            <a:ext cx="10890929" cy="1097280"/>
          </a:xfrm>
        </p:spPr>
        <p:txBody>
          <a:bodyPr/>
          <a:lstStyle/>
          <a:p>
            <a:r>
              <a:rPr lang="hu-HU" dirty="0"/>
              <a:t>Eredmény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D461E5-3817-1F54-BDE7-BA9C72FF8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648691"/>
            <a:ext cx="10890928" cy="4550941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sorvektor egy olyan mátrix, amelynek első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dimenziójának mérete (a sorok száma) egyenlő 1,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második dimenziójának mérete (az oszlopok száma) </a:t>
            </a: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pedig egyenlő </a:t>
            </a:r>
            <a:r>
              <a:rPr lang="hu-HU" sz="240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n.</a:t>
            </a:r>
            <a:endParaRPr lang="hu-HU" sz="240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Tehát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ez egy 1×n-es tömb vagy (1, </a:t>
            </a:r>
            <a:r>
              <a:rPr lang="hu-HU" sz="240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 alakú tömb:</a:t>
            </a: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= [a</a:t>
            </a:r>
            <a:r>
              <a:rPr lang="hu-HU" sz="2400" baseline="-250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a</a:t>
            </a:r>
            <a:r>
              <a:rPr lang="hu-HU" sz="2400" baseline="-250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a</a:t>
            </a:r>
            <a:r>
              <a:rPr lang="hu-HU" sz="2400" baseline="-250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..., a</a:t>
            </a:r>
            <a:r>
              <a:rPr lang="hu-HU" sz="2400" baseline="-250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hu-HU" sz="240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6865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B433B1-4932-5B42-0272-D74BE4ED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16524"/>
            <a:ext cx="10890929" cy="1097280"/>
          </a:xfrm>
        </p:spPr>
        <p:txBody>
          <a:bodyPr/>
          <a:lstStyle/>
          <a:p>
            <a:r>
              <a:rPr lang="hu-HU" dirty="0"/>
              <a:t>Hogy működnek a </a:t>
            </a:r>
            <a:r>
              <a:rPr lang="hu-HU" dirty="0" err="1"/>
              <a:t>numpy</a:t>
            </a:r>
            <a:r>
              <a:rPr lang="hu-HU" dirty="0"/>
              <a:t> tömbök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EEA8A4-BD30-234E-C0D7-8B0683AF0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37" y="1601116"/>
            <a:ext cx="4869257" cy="4348421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pl.: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= [1, 2, 3]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np.array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([a]))</a:t>
            </a:r>
          </a:p>
          <a:p>
            <a:endParaRPr lang="hu-HU" dirty="0"/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# -&gt; [[1 2 3]]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VSCode</a:t>
            </a: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 </a:t>
            </a:r>
            <a:r>
              <a:rPr lang="hu-HU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dim.py</a:t>
            </a:r>
            <a:endParaRPr lang="hu-HU" sz="2400" dirty="0">
              <a:solidFill>
                <a:srgbClr val="FF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689EF3F4-7AC8-391C-8DE8-7DB00747BF4F}"/>
              </a:ext>
            </a:extLst>
          </p:cNvPr>
          <p:cNvSpPr txBox="1">
            <a:spLocks/>
          </p:cNvSpPr>
          <p:nvPr/>
        </p:nvSpPr>
        <p:spPr>
          <a:xfrm>
            <a:off x="4883545" y="1413804"/>
            <a:ext cx="7127309" cy="5630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 = [1, 2, 3] 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print(</a:t>
            </a:r>
            <a:r>
              <a:rPr lang="hu-HU" sz="2400" dirty="0" err="1">
                <a:solidFill>
                  <a:schemeClr val="tx2"/>
                </a:solidFill>
                <a:latin typeface="Menlo" panose="020B0609030804020204" pitchFamily="49" charset="0"/>
              </a:rPr>
              <a:t>np.expand_dims</a:t>
            </a: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		(</a:t>
            </a:r>
            <a:r>
              <a:rPr lang="hu-HU" sz="2400" dirty="0" err="1">
                <a:solidFill>
                  <a:schemeClr val="tx2"/>
                </a:solidFill>
                <a:latin typeface="Menlo" panose="020B0609030804020204" pitchFamily="49" charset="0"/>
              </a:rPr>
              <a:t>np.array</a:t>
            </a: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(a), </a:t>
            </a:r>
            <a:r>
              <a:rPr lang="hu-HU" sz="2400" dirty="0" err="1">
                <a:solidFill>
                  <a:schemeClr val="tx2"/>
                </a:solidFill>
                <a:latin typeface="Menlo" panose="020B0609030804020204" pitchFamily="49" charset="0"/>
              </a:rPr>
              <a:t>axis</a:t>
            </a: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=0))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[[1 2 3]]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Ahol az </a:t>
            </a:r>
            <a:r>
              <a:rPr lang="hu-HU" sz="2400" dirty="0" err="1">
                <a:solidFill>
                  <a:schemeClr val="tx2"/>
                </a:solidFill>
                <a:latin typeface="Menlo" panose="020B0609030804020204" pitchFamily="49" charset="0"/>
              </a:rPr>
              <a:t>npexpand_dims</a:t>
            </a: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() egy új </a:t>
            </a:r>
          </a:p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dimenziót ad hozzá a tengely</a:t>
            </a:r>
          </a:p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indexénél.</a:t>
            </a:r>
          </a:p>
        </p:txBody>
      </p:sp>
    </p:spTree>
    <p:extLst>
      <p:ext uri="{BB962C8B-B14F-4D97-AF65-F5344CB8AC3E}">
        <p14:creationId xmlns:p14="http://schemas.microsoft.com/office/powerpoint/2010/main" val="2984057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53A508-F28D-4963-3A21-332A5C081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31732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hu-HU" dirty="0"/>
              <a:t>Hogy működnek a </a:t>
            </a:r>
            <a:r>
              <a:rPr lang="hu-HU" dirty="0" err="1"/>
              <a:t>numpy</a:t>
            </a:r>
            <a:r>
              <a:rPr lang="hu-HU" dirty="0"/>
              <a:t> tömbök (transzponált)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58A2B4-D4E7-66C1-CD53-F4FFBF8C6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932" y="2633472"/>
            <a:ext cx="1698075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b="1" dirty="0"/>
              <a:t>[ [2]</a:t>
            </a:r>
          </a:p>
          <a:p>
            <a:pPr marL="0" indent="0">
              <a:buNone/>
            </a:pPr>
            <a:r>
              <a:rPr lang="hu-HU" sz="2400" b="1" dirty="0"/>
              <a:t>  [3]</a:t>
            </a:r>
          </a:p>
          <a:p>
            <a:pPr marL="0" indent="0">
              <a:buNone/>
            </a:pPr>
            <a:r>
              <a:rPr lang="hu-HU" sz="2400" b="1" dirty="0"/>
              <a:t>  [4] ]</a:t>
            </a:r>
          </a:p>
          <a:p>
            <a:pPr marL="0" indent="0">
              <a:buNone/>
            </a:pPr>
            <a:endParaRPr lang="hu-HU" sz="2400" b="1" dirty="0"/>
          </a:p>
          <a:p>
            <a:pPr marL="0" indent="0">
              <a:buNone/>
            </a:pPr>
            <a:r>
              <a:rPr lang="hu-HU" sz="2400" b="1" dirty="0"/>
              <a:t>[[20]]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0CCD2D6-0CBF-D4E0-1D33-BCBD1AC22957}"/>
              </a:ext>
            </a:extLst>
          </p:cNvPr>
          <p:cNvSpPr txBox="1">
            <a:spLocks/>
          </p:cNvSpPr>
          <p:nvPr/>
        </p:nvSpPr>
        <p:spPr>
          <a:xfrm>
            <a:off x="532335" y="1818253"/>
            <a:ext cx="6875537" cy="3975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= [1, 2, 3]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[2, 3, 4]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=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np.array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([a])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np.array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]).T</a:t>
            </a: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dirty="0">
                <a:solidFill>
                  <a:schemeClr val="tx2"/>
                </a:solidFill>
                <a:latin typeface="Menlo" panose="020B0609030804020204" pitchFamily="49" charset="0"/>
              </a:rPr>
              <a:t>p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rint(a)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np.dot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(a,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))</a:t>
            </a: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B766010-45D5-02CC-0632-18DF7FE61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183" y="2022720"/>
            <a:ext cx="4555482" cy="356616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AE3C1B9-5FB6-B04B-18F9-75D8D9C3D5E3}"/>
              </a:ext>
            </a:extLst>
          </p:cNvPr>
          <p:cNvSpPr txBox="1"/>
          <p:nvPr/>
        </p:nvSpPr>
        <p:spPr>
          <a:xfrm>
            <a:off x="660993" y="5793346"/>
            <a:ext cx="6097978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250"/>
              </a:lnSpc>
              <a:buNone/>
            </a:pPr>
            <a:r>
              <a:rPr lang="hu-HU" sz="18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VSCode</a:t>
            </a:r>
            <a:r>
              <a:rPr lang="hu-HU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hu-HU" sz="1800" dirty="0" err="1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transp.py</a:t>
            </a:r>
            <a:r>
              <a:rPr lang="hu-HU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554752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5F40D7-8819-25D5-2293-C3208AF5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81837"/>
            <a:ext cx="10890929" cy="1097280"/>
          </a:xfrm>
        </p:spPr>
        <p:txBody>
          <a:bodyPr/>
          <a:lstStyle/>
          <a:p>
            <a:r>
              <a:rPr lang="hu-HU" dirty="0"/>
              <a:t>Megoldás: transzponált (</a:t>
            </a:r>
            <a:r>
              <a:rPr lang="hu-HU" dirty="0" err="1"/>
              <a:t>numpy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np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8E0598-F6CB-50CB-3DA1-D16F178DC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1645920"/>
            <a:ext cx="3831712" cy="4053422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= [[1 2 3]]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bT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# Transzpozíció vagy transzponált mátrix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[[2]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[3]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[4]]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C9B59F64-B2D6-E662-7074-D3B18395C2F4}"/>
              </a:ext>
            </a:extLst>
          </p:cNvPr>
          <p:cNvSpPr txBox="1">
            <a:spLocks/>
          </p:cNvSpPr>
          <p:nvPr/>
        </p:nvSpPr>
        <p:spPr>
          <a:xfrm>
            <a:off x="4960307" y="1645920"/>
            <a:ext cx="6751529" cy="4617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mátrixszorzat a sor és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oszlopvektorok összes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kombinációjának pontgyakoriságából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álló mátrixot hoz létre.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 pontszorzat és a mátrixszorzat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egyetlen metódusban van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implementálva: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np.dot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Miért jó ez nekünk?</a:t>
            </a:r>
          </a:p>
          <a:p>
            <a:pPr marL="0" indent="0">
              <a:lnSpc>
                <a:spcPts val="2250"/>
              </a:lnSpc>
              <a:buFont typeface="Arial" panose="020B0604020202020204" pitchFamily="34" charset="0"/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50881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3CCDFA-CBA6-955F-53D5-D3376656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hu-HU" dirty="0"/>
              <a:t>Inputok és súlyok szorzata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494F01-6E89-05CE-CA78-04719D2C6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07008"/>
            <a:ext cx="10890928" cy="5541264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[[1, 2, 3, 2.5],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[2., 5., -1., 2],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[-1.5, 2.7, 3.3, -0.8]]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weights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[[0.2, 0.8, -0.5, 1],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 [0.5, -0.91, 0.26, -0.5],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 [-0.26, -0.27, 0.17, 0.87]]</a:t>
            </a:r>
            <a:endParaRPr lang="hu-HU" sz="20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hu-HU" sz="20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Mindkét mátrixnak ugyanaz az alakja, de a mátrixszorzat elvégzéséhez 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az első mátrix második (1-es) indexéből és a második mátrix első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(0-ás) indexében meg kell egyeznie - </a:t>
            </a:r>
            <a:r>
              <a:rPr lang="hu-HU" sz="20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jelenleg nem egyeznek</a:t>
            </a:r>
            <a:r>
              <a:rPr lang="hu-HU" sz="20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hu-H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2250"/>
              </a:lnSpc>
              <a:buNone/>
            </a:pPr>
            <a:endParaRPr lang="hu-HU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Ha a második tömböt transzponáljuk, az </a:t>
            </a:r>
            <a:r>
              <a:rPr lang="hu-HU" dirty="0">
                <a:solidFill>
                  <a:schemeClr val="tx2"/>
                </a:solidFill>
                <a:latin typeface="Menlo" panose="020B0609030804020204" pitchFamily="49" charset="0"/>
              </a:rPr>
              <a:t>indexei</a:t>
            </a:r>
            <a:r>
              <a:rPr lang="hu-HU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„felcserélődnek”.</a:t>
            </a:r>
          </a:p>
          <a:p>
            <a:pPr>
              <a:lnSpc>
                <a:spcPts val="2250"/>
              </a:lnSpc>
              <a:buNone/>
            </a:pPr>
            <a:endParaRPr lang="hu-HU" sz="20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hu-HU" sz="20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3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660C25-AAFF-E349-96AD-9F85960D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6784"/>
            <a:ext cx="10890929" cy="1097280"/>
          </a:xfrm>
        </p:spPr>
        <p:txBody>
          <a:bodyPr/>
          <a:lstStyle/>
          <a:p>
            <a:r>
              <a:rPr lang="hu-HU" dirty="0"/>
              <a:t>Transzponált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D9DEC0-B887-D792-3576-C657CC641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77" y="3097895"/>
            <a:ext cx="9806628" cy="3330670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[[1, 2, 3, 2.5],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[2., 5., -1., 2],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[-1.5, 2.7, 3.3, -0.8]]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weights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[[0.2, 0.8, -0.5, 1],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 [0.5, -0.91, 0.26, -0.5],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			 [-0.26, -0.27, 0.17, 0.87]]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Print('Transzponált:\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’, 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np.array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).T)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2CB5DF48-BDB9-CABC-8032-9C3462D3B16F}"/>
              </a:ext>
            </a:extLst>
          </p:cNvPr>
          <p:cNvSpPr txBox="1">
            <a:spLocks/>
          </p:cNvSpPr>
          <p:nvPr/>
        </p:nvSpPr>
        <p:spPr>
          <a:xfrm>
            <a:off x="5774499" y="479329"/>
            <a:ext cx="6115624" cy="1837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 [[ 1.   2.  -1.5]</a:t>
            </a:r>
          </a:p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  [ 2.   5.   2.7]</a:t>
            </a:r>
          </a:p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  [ 3.  -1.   3.3]</a:t>
            </a:r>
          </a:p>
          <a:p>
            <a:pPr>
              <a:lnSpc>
                <a:spcPts val="2250"/>
              </a:lnSpc>
              <a:buFont typeface="Arial" panose="020B0604020202020204" pitchFamily="34" charset="0"/>
              <a:buNone/>
            </a:pP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  [ 2.5  2.  -0.8]]</a:t>
            </a:r>
          </a:p>
          <a:p>
            <a:pPr marL="0" indent="0">
              <a:lnSpc>
                <a:spcPts val="2250"/>
              </a:lnSpc>
              <a:buFont typeface="Arial" panose="020B0604020202020204" pitchFamily="34" charset="0"/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7AC5D9A8-D182-91AF-3D3A-9FEE389E7E6F}"/>
              </a:ext>
            </a:extLst>
          </p:cNvPr>
          <p:cNvCxnSpPr>
            <a:stCxn id="3" idx="0"/>
          </p:cNvCxnSpPr>
          <p:nvPr/>
        </p:nvCxnSpPr>
        <p:spPr>
          <a:xfrm flipV="1">
            <a:off x="5205191" y="2179529"/>
            <a:ext cx="1583916" cy="91836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Kép 4">
            <a:extLst>
              <a:ext uri="{FF2B5EF4-FFF2-40B4-BE49-F238E27FC236}">
                <a16:creationId xmlns:a16="http://schemas.microsoft.com/office/drawing/2014/main" id="{E4978567-AF29-0DF6-E294-FDD855AB5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39" r="14045" b="-2"/>
          <a:stretch/>
        </p:blipFill>
        <p:spPr>
          <a:xfrm>
            <a:off x="8765279" y="2622054"/>
            <a:ext cx="2686451" cy="375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3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EC229A-5FC0-5020-02FA-06A18CA5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Neurális háló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257120-39B2-21CE-19C7-A79D96B7D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b="1" dirty="0"/>
              <a:t>A neurális háló rétegekből áll, minden réteg neuronokból.</a:t>
            </a:r>
          </a:p>
          <a:p>
            <a:r>
              <a:rPr lang="hu-HU" sz="2400" b="1" dirty="0"/>
              <a:t>A különböző rétegek között kapcsolat van (jelen esetben teljes).</a:t>
            </a:r>
          </a:p>
          <a:p>
            <a:r>
              <a:rPr lang="hu-HU" sz="2400" b="1" dirty="0"/>
              <a:t>Ezek a rétegek úgy alakítják át az adatokat, hogy először kiszámítják a bemenetek súlyozott összegét, majd a neuronokhoz rendelt aktiválási függvények segítségével normalizálják azt.</a:t>
            </a:r>
          </a:p>
        </p:txBody>
      </p:sp>
    </p:spTree>
    <p:extLst>
      <p:ext uri="{BB962C8B-B14F-4D97-AF65-F5344CB8AC3E}">
        <p14:creationId xmlns:p14="http://schemas.microsoft.com/office/powerpoint/2010/main" val="2688943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08AA-E611-B150-C432-7C949799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D20C64-8F41-F165-B88A-6070E41F7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08471"/>
            <a:ext cx="10536075" cy="70963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A </a:t>
            </a:r>
            <a:r>
              <a:rPr lang="en-US" sz="4400" dirty="0" err="1"/>
              <a:t>adatok</a:t>
            </a:r>
            <a:r>
              <a:rPr lang="en-US" sz="4400" dirty="0"/>
              <a:t> (</a:t>
            </a:r>
            <a:r>
              <a:rPr lang="en-US" sz="4400" dirty="0" err="1"/>
              <a:t>elő</a:t>
            </a:r>
            <a:r>
              <a:rPr lang="en-US" sz="4400" dirty="0"/>
              <a:t>)</a:t>
            </a:r>
            <a:r>
              <a:rPr lang="en-US" sz="4400" dirty="0" err="1"/>
              <a:t>készítése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5D53E72D-2E95-7587-E761-12BA82E49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9100" y="1467193"/>
            <a:ext cx="7290648" cy="386404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D21993A-BAEF-09F7-F03D-CBFD73B2D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846" y="2471133"/>
            <a:ext cx="1882390" cy="2227185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E92F12AD-706B-023D-2227-B666022F6DD7}"/>
              </a:ext>
            </a:extLst>
          </p:cNvPr>
          <p:cNvSpPr txBox="1"/>
          <p:nvPr/>
        </p:nvSpPr>
        <p:spPr>
          <a:xfrm>
            <a:off x="713232" y="5147405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 </a:t>
            </a:r>
            <a:r>
              <a:rPr lang="en-US" dirty="0" err="1">
                <a:solidFill>
                  <a:schemeClr val="tx2"/>
                </a:solidFill>
              </a:rPr>
              <a:t>kiszámolt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eredmény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és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az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elvárt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érték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közötti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különbség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minimalizálása</a:t>
            </a:r>
            <a:r>
              <a:rPr lang="en-US" dirty="0">
                <a:solidFill>
                  <a:schemeClr val="tx2"/>
                </a:solidFill>
              </a:rPr>
              <a:t>. </a:t>
            </a:r>
            <a:r>
              <a:rPr lang="en-US" dirty="0" err="1">
                <a:solidFill>
                  <a:schemeClr val="tx2"/>
                </a:solidFill>
              </a:rPr>
              <a:t>Veszteség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kiszámítása</a:t>
            </a:r>
            <a:r>
              <a:rPr lang="en-US" dirty="0">
                <a:solidFill>
                  <a:schemeClr val="tx2"/>
                </a:solidFill>
              </a:rPr>
              <a:t>, </a:t>
            </a:r>
            <a:r>
              <a:rPr lang="en-US" dirty="0" err="1">
                <a:solidFill>
                  <a:schemeClr val="tx2"/>
                </a:solidFill>
              </a:rPr>
              <a:t>majd</a:t>
            </a:r>
            <a:r>
              <a:rPr lang="en-US" dirty="0">
                <a:solidFill>
                  <a:schemeClr val="tx2"/>
                </a:solidFill>
              </a:rPr>
              <a:t> a </a:t>
            </a:r>
            <a:r>
              <a:rPr lang="en-US" dirty="0" err="1">
                <a:solidFill>
                  <a:schemeClr val="tx2"/>
                </a:solidFill>
              </a:rPr>
              <a:t>súlyok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módosítása</a:t>
            </a:r>
            <a:r>
              <a:rPr lang="en-US" dirty="0">
                <a:solidFill>
                  <a:schemeClr val="tx2"/>
                </a:solidFill>
              </a:rPr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2099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ép 5" descr="A képen képernyőkép, kö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B037A2A-B8F6-6131-1490-2A0EEB4F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5" r="3621" b="1"/>
          <a:stretch/>
        </p:blipFill>
        <p:spPr>
          <a:xfrm>
            <a:off x="7197698" y="261315"/>
            <a:ext cx="4804113" cy="394409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3C4474F-3FBC-DFC5-56B4-C650C930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18" y="295039"/>
            <a:ext cx="6828127" cy="10972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Adatok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F49BFFA-7301-0E90-E362-87E4B0DE2FB4}"/>
              </a:ext>
            </a:extLst>
          </p:cNvPr>
          <p:cNvSpPr txBox="1"/>
          <p:nvPr/>
        </p:nvSpPr>
        <p:spPr>
          <a:xfrm>
            <a:off x="320818" y="1687357"/>
            <a:ext cx="9244209" cy="44216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sz="2400" dirty="0" err="1"/>
              <a:t>Cél</a:t>
            </a:r>
            <a:r>
              <a:rPr lang="en-US" sz="2400" dirty="0"/>
              <a:t>: 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Menlo" panose="020B0609030804020204" pitchFamily="49" charset="0"/>
              </a:rPr>
              <a:t>inputs: </a:t>
            </a:r>
            <a:r>
              <a:rPr lang="en-US" sz="2400" dirty="0" err="1"/>
              <a:t>Hozzunk</a:t>
            </a:r>
            <a:r>
              <a:rPr lang="en-US" sz="2400" dirty="0"/>
              <a:t> </a:t>
            </a:r>
            <a:r>
              <a:rPr lang="en-US" sz="2400" dirty="0" err="1"/>
              <a:t>létre</a:t>
            </a:r>
            <a:r>
              <a:rPr lang="en-US" sz="2400" dirty="0"/>
              <a:t> </a:t>
            </a:r>
            <a:r>
              <a:rPr lang="en-US" sz="2400" dirty="0" err="1"/>
              <a:t>egy</a:t>
            </a:r>
            <a:r>
              <a:rPr lang="en-US" sz="2400" dirty="0"/>
              <a:t> </a:t>
            </a:r>
            <a:r>
              <a:rPr lang="en-US" sz="2400" dirty="0" err="1"/>
              <a:t>olyan</a:t>
            </a:r>
            <a:r>
              <a:rPr lang="en-US" sz="2400" dirty="0"/>
              <a:t> </a:t>
            </a:r>
            <a:r>
              <a:rPr lang="en-US" sz="2400" dirty="0" err="1"/>
              <a:t>osztályozási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adathalmazt</a:t>
            </a:r>
            <a:r>
              <a:rPr lang="en-US" sz="2400" dirty="0"/>
              <a:t>, </a:t>
            </a:r>
            <a:r>
              <a:rPr lang="en-US" sz="2400" dirty="0" err="1"/>
              <a:t>amely</a:t>
            </a:r>
            <a:r>
              <a:rPr lang="en-US" sz="2400" dirty="0"/>
              <a:t> </a:t>
            </a:r>
            <a:r>
              <a:rPr lang="en-US" sz="2400" dirty="0" err="1"/>
              <a:t>nehezen</a:t>
            </a:r>
            <a:r>
              <a:rPr lang="en-US" sz="2400" dirty="0"/>
              <a:t> </a:t>
            </a:r>
            <a:r>
              <a:rPr lang="en-US" sz="2400" dirty="0" err="1"/>
              <a:t>szeparálható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lineárisan</a:t>
            </a:r>
            <a:r>
              <a:rPr lang="en-US" sz="2400" dirty="0"/>
              <a:t>. Erre </a:t>
            </a:r>
            <a:r>
              <a:rPr lang="en-US" sz="2400" dirty="0" err="1"/>
              <a:t>tökéletes</a:t>
            </a:r>
            <a:r>
              <a:rPr lang="en-US" sz="2400" dirty="0"/>
              <a:t> a </a:t>
            </a:r>
            <a:r>
              <a:rPr lang="en-US" sz="2400" dirty="0" err="1"/>
              <a:t>spirális</a:t>
            </a:r>
            <a:r>
              <a:rPr lang="en-US" sz="2400" dirty="0"/>
              <a:t> </a:t>
            </a:r>
            <a:r>
              <a:rPr lang="en-US" sz="2400" dirty="0" err="1"/>
              <a:t>adathalmaz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(A </a:t>
            </a:r>
            <a:r>
              <a:rPr lang="en-US" sz="2400" dirty="0" err="1"/>
              <a:t>színek</a:t>
            </a:r>
            <a:r>
              <a:rPr lang="en-US" sz="2400" dirty="0"/>
              <a:t> a </a:t>
            </a:r>
            <a:r>
              <a:rPr lang="en-US" sz="2400" dirty="0" err="1"/>
              <a:t>kategoriákat</a:t>
            </a:r>
            <a:r>
              <a:rPr lang="en-US" sz="2400" dirty="0"/>
              <a:t> </a:t>
            </a:r>
            <a:r>
              <a:rPr lang="en-US" sz="2400" dirty="0" err="1"/>
              <a:t>reprezentálják</a:t>
            </a:r>
            <a:r>
              <a:rPr lang="en-US" sz="2400" dirty="0"/>
              <a:t>.)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b="1" dirty="0" err="1"/>
              <a:t>Csak</a:t>
            </a:r>
            <a:r>
              <a:rPr lang="en-US" sz="2400" b="1" dirty="0"/>
              <a:t> </a:t>
            </a:r>
            <a:r>
              <a:rPr lang="en-US" sz="2400" b="1" dirty="0" err="1"/>
              <a:t>teszteléshez</a:t>
            </a:r>
            <a:r>
              <a:rPr lang="en-US" sz="2400" b="1" dirty="0"/>
              <a:t>!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Menlo" panose="020B0609030804020204" pitchFamily="49" charset="0"/>
              </a:rPr>
              <a:t>Weights: 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0.01 *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np.random.randn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hu-HU" sz="2400" b="0" i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hu-HU" sz="2400" b="0" i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neurons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hu-HU" sz="2400" b="0" i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 marL="342900" indent="-342900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Biases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np.zeros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((1, </a:t>
            </a:r>
            <a:r>
              <a:rPr lang="hu-HU" sz="2400" b="0" i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neurons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65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26D918-C36D-11F3-D554-7598D2CD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77092"/>
            <a:ext cx="10890929" cy="1097280"/>
          </a:xfrm>
        </p:spPr>
        <p:txBody>
          <a:bodyPr/>
          <a:lstStyle/>
          <a:p>
            <a:r>
              <a:rPr lang="hu-HU" dirty="0"/>
              <a:t>Adatok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9D02A7-76E4-ED4B-E79D-02F00069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74372"/>
            <a:ext cx="10890928" cy="4825260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https://cs231n.github.io/neural-networks-case-study/</a:t>
            </a: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plt</a:t>
            </a: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nnfs.datasets.spiral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import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create_data</a:t>
            </a: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X,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create_data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samples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100,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3)</a:t>
            </a:r>
          </a:p>
          <a:p>
            <a:pPr>
              <a:lnSpc>
                <a:spcPts val="2250"/>
              </a:lnSpc>
              <a:buNone/>
            </a:pPr>
            <a:endParaRPr lang="hu-HU" sz="2400" b="1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plt.scatter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(X[:, 0], X[:, 1], c=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cmap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='</a:t>
            </a: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brg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')</a:t>
            </a:r>
          </a:p>
          <a:p>
            <a:pPr marL="0" indent="0">
              <a:lnSpc>
                <a:spcPts val="2250"/>
              </a:lnSpc>
              <a:buNone/>
            </a:pPr>
            <a:r>
              <a:rPr lang="hu-HU" sz="24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plt.show</a:t>
            </a:r>
            <a:r>
              <a:rPr lang="hu-HU" sz="24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10801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70CDA8-ED8D-2A7A-15DB-721C0961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1"/>
            <a:ext cx="11513127" cy="1097280"/>
          </a:xfrm>
        </p:spPr>
        <p:txBody>
          <a:bodyPr>
            <a:normAutofit fontScale="90000"/>
          </a:bodyPr>
          <a:lstStyle/>
          <a:p>
            <a:r>
              <a:rPr lang="hu-HU" sz="36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X, </a:t>
            </a:r>
            <a:r>
              <a:rPr lang="hu-HU" sz="36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y</a:t>
            </a:r>
            <a:r>
              <a:rPr lang="hu-HU" sz="36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hu-HU" sz="36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create_data</a:t>
            </a:r>
            <a:r>
              <a:rPr lang="hu-HU" sz="36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hu-HU" sz="36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samples</a:t>
            </a:r>
            <a:r>
              <a:rPr lang="hu-HU" sz="36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100, </a:t>
            </a:r>
            <a:r>
              <a:rPr lang="hu-HU" sz="3600" b="1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hu-HU" sz="36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3)</a:t>
            </a:r>
            <a:br>
              <a:rPr lang="hu-HU" sz="4000" b="1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CFB2BC-029E-E5AA-5BE0-6C1CE44B2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5673"/>
            <a:ext cx="11374582" cy="4453959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adatok = 100: 100 adatmintát kell létrehozni.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Classes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3: az adatok 3 különböző osztályba (kategóriába) </a:t>
            </a: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lesznek sorolva.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Így nem kell kézzel begépelni az input adatokat.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rgbClr val="FF0000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VSCode</a:t>
            </a: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-ban (</a:t>
            </a:r>
            <a:r>
              <a:rPr lang="hu-HU" sz="2400" dirty="0" err="1">
                <a:solidFill>
                  <a:srgbClr val="FF0000"/>
                </a:solidFill>
                <a:latin typeface="Menlo" panose="020B0609030804020204" pitchFamily="49" charset="0"/>
              </a:rPr>
              <a:t>spiral.py</a:t>
            </a:r>
            <a:r>
              <a:rPr lang="hu-HU" sz="2400" dirty="0">
                <a:solidFill>
                  <a:srgbClr val="FF0000"/>
                </a:solidFill>
                <a:latin typeface="Menlo" panose="020B0609030804020204" pitchFamily="49" charset="0"/>
              </a:rPr>
              <a:t>)</a:t>
            </a:r>
            <a:endParaRPr lang="hu-HU" sz="2400" b="0" dirty="0">
              <a:solidFill>
                <a:srgbClr val="FF0000"/>
              </a:solidFill>
              <a:effectLst/>
              <a:latin typeface="Menlo" panose="020B0609030804020204" pitchFamily="49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25035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AD38E-337F-A8D7-6253-0C5DC300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FABC28-0B0F-3C7B-1232-2197D42D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Neurális háló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A00F83-5482-5CAD-A6F8-AC767DCFF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b="1" dirty="0"/>
              <a:t>A neurális háló rétegekből áll, minden réteg neuronokból.</a:t>
            </a:r>
          </a:p>
          <a:p>
            <a:r>
              <a:rPr lang="hu-HU" sz="2400" b="1" dirty="0"/>
              <a:t>A különböző rétegek között kapcsolat van (jelen esetben teljes).</a:t>
            </a:r>
          </a:p>
          <a:p>
            <a:r>
              <a:rPr lang="hu-HU" sz="2400" b="1" dirty="0"/>
              <a:t>Ezek a rétegek úgy alakítják át az adatokat, hogy először kiszámítják a bemenetek súlyozott összegét, majd a neuronokhoz rendelt aktiválási függvények segítségével normalizálják azt.</a:t>
            </a:r>
          </a:p>
        </p:txBody>
      </p:sp>
    </p:spTree>
    <p:extLst>
      <p:ext uri="{BB962C8B-B14F-4D97-AF65-F5344CB8AC3E}">
        <p14:creationId xmlns:p14="http://schemas.microsoft.com/office/powerpoint/2010/main" val="229022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5E598E-9BF3-E6B5-26FC-C3525866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21674"/>
            <a:ext cx="10890929" cy="1097280"/>
          </a:xfrm>
        </p:spPr>
        <p:txBody>
          <a:bodyPr/>
          <a:lstStyle/>
          <a:p>
            <a:r>
              <a:rPr lang="hu-HU" dirty="0"/>
              <a:t>Rejtett </a:t>
            </a:r>
            <a:r>
              <a:rPr lang="hu-HU" dirty="0" err="1"/>
              <a:t>layer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A004A17-0827-EAC1-805D-568BAF93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77636"/>
            <a:ext cx="10890928" cy="5458690"/>
          </a:xfrm>
        </p:spPr>
        <p:txBody>
          <a:bodyPr>
            <a:normAutofit/>
          </a:bodyPr>
          <a:lstStyle/>
          <a:p>
            <a:r>
              <a:rPr lang="hu-HU" sz="2800" dirty="0" err="1">
                <a:solidFill>
                  <a:srgbClr val="FF0000"/>
                </a:solidFill>
              </a:rPr>
              <a:t>VSCode</a:t>
            </a:r>
            <a:r>
              <a:rPr lang="hu-HU" sz="2800" dirty="0">
                <a:solidFill>
                  <a:srgbClr val="FF0000"/>
                </a:solidFill>
              </a:rPr>
              <a:t>-ban (</a:t>
            </a:r>
            <a:r>
              <a:rPr lang="hu-HU" sz="2800" dirty="0" err="1">
                <a:solidFill>
                  <a:srgbClr val="FF0000"/>
                </a:solidFill>
              </a:rPr>
              <a:t>dense.py</a:t>
            </a:r>
            <a:r>
              <a:rPr lang="hu-HU" sz="2800" dirty="0">
                <a:solidFill>
                  <a:srgbClr val="FF0000"/>
                </a:solidFill>
              </a:rPr>
              <a:t>)</a:t>
            </a:r>
          </a:p>
          <a:p>
            <a:endParaRPr lang="hu-HU" sz="2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hu-HU" sz="2800" dirty="0">
                <a:solidFill>
                  <a:schemeClr val="tx2"/>
                </a:solidFill>
              </a:rPr>
              <a:t>[[ 0.00000000e+00  0.00000000e+00  0.00000000e+00]</a:t>
            </a:r>
          </a:p>
          <a:p>
            <a:pPr marL="0" indent="0">
              <a:buNone/>
            </a:pPr>
            <a:r>
              <a:rPr lang="hu-HU" sz="2800" dirty="0">
                <a:solidFill>
                  <a:schemeClr val="tx2"/>
                </a:solidFill>
              </a:rPr>
              <a:t> [-1.38314646e-05 -1.48357404e-04  2.39797063e-05]</a:t>
            </a:r>
          </a:p>
          <a:p>
            <a:pPr marL="0" indent="0">
              <a:buNone/>
            </a:pPr>
            <a:r>
              <a:rPr lang="hu-HU" sz="2800" dirty="0">
                <a:solidFill>
                  <a:schemeClr val="tx2"/>
                </a:solidFill>
              </a:rPr>
              <a:t> [ 3.39636433e-05 -1.43224715e-04  8.30246207e-07]</a:t>
            </a:r>
          </a:p>
          <a:p>
            <a:pPr marL="0" indent="0">
              <a:buNone/>
            </a:pPr>
            <a:r>
              <a:rPr lang="hu-HU" sz="2800" dirty="0">
                <a:solidFill>
                  <a:schemeClr val="tx2"/>
                </a:solidFill>
              </a:rPr>
              <a:t> [ 7.64322687e-05 -1.06251425e-04 -2.35529007e-05]]</a:t>
            </a:r>
          </a:p>
        </p:txBody>
      </p:sp>
    </p:spTree>
    <p:extLst>
      <p:ext uri="{BB962C8B-B14F-4D97-AF65-F5344CB8AC3E}">
        <p14:creationId xmlns:p14="http://schemas.microsoft.com/office/powerpoint/2010/main" val="2630991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18DBBA-3E8F-69E4-0E92-F95A6155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19529"/>
            <a:ext cx="10890929" cy="1097280"/>
          </a:xfrm>
        </p:spPr>
        <p:txBody>
          <a:bodyPr/>
          <a:lstStyle/>
          <a:p>
            <a:r>
              <a:rPr lang="hu-HU" dirty="0"/>
              <a:t>Aktiválási függvény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260ED5-C5D2-4B04-AF8D-D9F93243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264409"/>
            <a:ext cx="10890928" cy="4935223"/>
          </a:xfrm>
        </p:spPr>
        <p:txBody>
          <a:bodyPr>
            <a:noAutofit/>
          </a:bodyPr>
          <a:lstStyle/>
          <a:p>
            <a:r>
              <a:rPr lang="hu-HU" sz="2400" b="1" dirty="0"/>
              <a:t>Az aktiválási függvény célja, hogy (nem)linearitást vezessen be a neuron kimenetébe. Egyetlen számot vesz (input</a:t>
            </a:r>
            <a:r>
              <a:rPr lang="hu-HU" sz="2800" b="1" baseline="-25000" dirty="0"/>
              <a:t>i</a:t>
            </a:r>
            <a:r>
              <a:rPr lang="hu-HU" sz="2400" b="1" dirty="0"/>
              <a:t>), és valamilyen matematikai műveletet hajt végre rajta.</a:t>
            </a:r>
          </a:p>
          <a:p>
            <a:r>
              <a:rPr lang="hu-HU" sz="2400" b="1" dirty="0"/>
              <a:t>PL:</a:t>
            </a:r>
          </a:p>
          <a:p>
            <a:r>
              <a:rPr lang="hu-HU" sz="2400" b="1" dirty="0" err="1"/>
              <a:t>Szigmoid</a:t>
            </a:r>
            <a:r>
              <a:rPr lang="hu-HU" sz="2400" b="1" dirty="0"/>
              <a:t>: A kimenetet a [0, 1] tartományba képezi le.</a:t>
            </a:r>
          </a:p>
          <a:p>
            <a:endParaRPr lang="hu-HU" sz="2400" b="1" dirty="0"/>
          </a:p>
          <a:p>
            <a:r>
              <a:rPr lang="hu-HU" sz="2400" b="1" dirty="0" err="1"/>
              <a:t>ReLU</a:t>
            </a:r>
            <a:r>
              <a:rPr lang="hu-HU" sz="2400" b="1" dirty="0"/>
              <a:t>: Ez a leggyakrabban használt aktiválási függvény (</a:t>
            </a:r>
            <a:r>
              <a:rPr lang="hu-HU" sz="2400" b="1" dirty="0" err="1"/>
              <a:t>Rectfied</a:t>
            </a:r>
            <a:r>
              <a:rPr lang="hu-HU" sz="2400" b="1" dirty="0"/>
              <a:t> </a:t>
            </a:r>
            <a:r>
              <a:rPr lang="hu-HU" sz="2400" b="1" dirty="0" err="1"/>
              <a:t>Linear</a:t>
            </a:r>
            <a:r>
              <a:rPr lang="hu-HU" sz="2400" b="1" dirty="0"/>
              <a:t> Unit). Értéke x, ha x pozitív, egyébként pedig 0.</a:t>
            </a:r>
          </a:p>
          <a:p>
            <a:r>
              <a:rPr lang="hu-HU" sz="2800" b="1" dirty="0"/>
              <a:t>y = </a:t>
            </a:r>
            <a:r>
              <a:rPr lang="hu-HU" sz="2800" b="1" dirty="0" err="1"/>
              <a:t>max</a:t>
            </a:r>
            <a:r>
              <a:rPr lang="hu-HU" sz="2800" b="1" dirty="0"/>
              <a:t>(x, 0),  (</a:t>
            </a:r>
            <a:r>
              <a:rPr lang="hu-HU" sz="2800" b="1" dirty="0" err="1"/>
              <a:t>pl</a:t>
            </a:r>
            <a:r>
              <a:rPr lang="hu-HU" sz="2800" b="1" dirty="0"/>
              <a:t>: -1 = 0, 1 = 1)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DA5B355-2FA8-7500-CAF8-C7DADA502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117" y="2779520"/>
            <a:ext cx="12065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96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FF957B-FF94-9CE6-619C-C3C07285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04801"/>
            <a:ext cx="10890929" cy="1097280"/>
          </a:xfrm>
        </p:spPr>
        <p:txBody>
          <a:bodyPr/>
          <a:lstStyle/>
          <a:p>
            <a:r>
              <a:rPr lang="hu-HU" dirty="0" err="1"/>
              <a:t>ReLU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00F28B-8475-B9C7-8E3A-F314E3449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933" y="1237957"/>
            <a:ext cx="8855612" cy="3674011"/>
          </a:xfrm>
        </p:spPr>
        <p:txBody>
          <a:bodyPr/>
          <a:lstStyle/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 = [0, 2, -1, 3.3, -2.7, 1.1, 2.2, -100]</a:t>
            </a:r>
          </a:p>
          <a:p>
            <a:pPr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output =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np.maximum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(0, </a:t>
            </a:r>
            <a:r>
              <a:rPr lang="hu-HU" sz="2400" b="0" dirty="0" err="1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b="0" dirty="0">
              <a:solidFill>
                <a:schemeClr val="tx2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chemeClr val="tx2"/>
                </a:solidFill>
                <a:effectLst/>
                <a:latin typeface="Menlo" panose="020B0609030804020204" pitchFamily="49" charset="0"/>
              </a:rPr>
              <a:t>print(output)</a:t>
            </a:r>
          </a:p>
          <a:p>
            <a:pPr marL="0" indent="0">
              <a:lnSpc>
                <a:spcPts val="2250"/>
              </a:lnSpc>
              <a:buNone/>
            </a:pPr>
            <a:endParaRPr lang="hu-HU" sz="2400" dirty="0">
              <a:solidFill>
                <a:schemeClr val="tx2"/>
              </a:solidFill>
              <a:latin typeface="Menlo" panose="020B0609030804020204" pitchFamily="49" charset="0"/>
            </a:endParaRPr>
          </a:p>
          <a:p>
            <a:pPr marL="0" indent="0">
              <a:lnSpc>
                <a:spcPts val="2250"/>
              </a:lnSpc>
              <a:buNone/>
            </a:pPr>
            <a:r>
              <a:rPr lang="hu-HU" sz="2400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[0., 2., 0., 3.3, 0., 1.1, 2.2, 0.]</a:t>
            </a:r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105805B4-ACFA-1513-5A0F-FDA5C4ECEEAF}"/>
              </a:ext>
            </a:extLst>
          </p:cNvPr>
          <p:cNvSpPr txBox="1">
            <a:spLocks/>
          </p:cNvSpPr>
          <p:nvPr/>
        </p:nvSpPr>
        <p:spPr>
          <a:xfrm>
            <a:off x="7971693" y="3589606"/>
            <a:ext cx="4618892" cy="3784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buNone/>
            </a:pP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 = [...]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output = []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 i in </a:t>
            </a: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inputs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 i &gt; 0: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output.append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(i)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2250"/>
              </a:lnSpc>
              <a:buNone/>
            </a:pP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hu-HU" sz="2000" b="0" dirty="0" err="1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output.append</a:t>
            </a:r>
            <a:r>
              <a:rPr lang="hu-HU" sz="2000" b="0" dirty="0">
                <a:solidFill>
                  <a:srgbClr val="002060"/>
                </a:solidFill>
                <a:effectLst/>
                <a:latin typeface="Menlo" panose="020B0609030804020204" pitchFamily="49" charset="0"/>
              </a:rPr>
              <a:t>(0)</a:t>
            </a:r>
          </a:p>
        </p:txBody>
      </p:sp>
    </p:spTree>
    <p:extLst>
      <p:ext uri="{BB962C8B-B14F-4D97-AF65-F5344CB8AC3E}">
        <p14:creationId xmlns:p14="http://schemas.microsoft.com/office/powerpoint/2010/main" val="4116394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C92839-A175-701D-5AEE-69315AF1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/>
          <a:lstStyle/>
          <a:p>
            <a:r>
              <a:rPr lang="hu-HU" dirty="0"/>
              <a:t>Implementáció (neurális háló)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32A588-5811-62F1-86E7-FFE74913A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1372709"/>
            <a:ext cx="10890928" cy="3566160"/>
          </a:xfrm>
        </p:spPr>
        <p:txBody>
          <a:bodyPr>
            <a:normAutofit/>
          </a:bodyPr>
          <a:lstStyle/>
          <a:p>
            <a:r>
              <a:rPr lang="hu-HU" sz="2800" dirty="0" err="1">
                <a:solidFill>
                  <a:srgbClr val="FF0000"/>
                </a:solidFill>
              </a:rPr>
              <a:t>VSCode</a:t>
            </a:r>
            <a:r>
              <a:rPr lang="hu-HU" sz="2800" dirty="0">
                <a:solidFill>
                  <a:srgbClr val="FF0000"/>
                </a:solidFill>
              </a:rPr>
              <a:t>-ban (</a:t>
            </a:r>
            <a:r>
              <a:rPr lang="hu-HU" sz="2800" dirty="0" err="1">
                <a:solidFill>
                  <a:srgbClr val="FF0000"/>
                </a:solidFill>
              </a:rPr>
              <a:t>neural_network.py</a:t>
            </a:r>
            <a:r>
              <a:rPr lang="hu-HU" sz="28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A4B31E7-5086-6F46-C848-07343D49BEA7}"/>
              </a:ext>
            </a:extLst>
          </p:cNvPr>
          <p:cNvSpPr txBox="1"/>
          <p:nvPr/>
        </p:nvSpPr>
        <p:spPr>
          <a:xfrm>
            <a:off x="3046070" y="3270376"/>
            <a:ext cx="609985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Következő rész témakörei: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3200" dirty="0"/>
              <a:t>Mélytanulás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3200" dirty="0"/>
              <a:t>Veszteségfüggvények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3200" dirty="0" err="1"/>
              <a:t>Forward</a:t>
            </a:r>
            <a:r>
              <a:rPr lang="hu-HU" sz="3200" dirty="0"/>
              <a:t>- és </a:t>
            </a:r>
            <a:r>
              <a:rPr lang="hu-HU" sz="3200" dirty="0" err="1"/>
              <a:t>backpropagation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404627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E0FFE4-52CE-DFC6-3560-96DBF616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90946"/>
            <a:ext cx="10890929" cy="1097280"/>
          </a:xfrm>
        </p:spPr>
        <p:txBody>
          <a:bodyPr/>
          <a:lstStyle/>
          <a:p>
            <a:r>
              <a:rPr lang="hu-HU" dirty="0" err="1"/>
              <a:t>Tensorflow</a:t>
            </a:r>
            <a:r>
              <a:rPr lang="hu-HU" dirty="0"/>
              <a:t>/</a:t>
            </a:r>
            <a:r>
              <a:rPr lang="hu-HU" dirty="0" err="1"/>
              <a:t>keras</a:t>
            </a:r>
            <a:r>
              <a:rPr lang="hu-HU" dirty="0"/>
              <a:t> – neurális hálók tanítása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2CB0D0-BD59-6337-2FC4-97F2F5438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648691"/>
            <a:ext cx="10890928" cy="4550941"/>
          </a:xfrm>
        </p:spPr>
        <p:txBody>
          <a:bodyPr>
            <a:normAutofit/>
          </a:bodyPr>
          <a:lstStyle/>
          <a:p>
            <a:r>
              <a:rPr lang="hu-HU" sz="2800" dirty="0" err="1">
                <a:solidFill>
                  <a:srgbClr val="FF0000"/>
                </a:solidFill>
              </a:rPr>
              <a:t>VSCode</a:t>
            </a:r>
            <a:r>
              <a:rPr lang="hu-HU" sz="2800" dirty="0">
                <a:solidFill>
                  <a:srgbClr val="FF0000"/>
                </a:solidFill>
              </a:rPr>
              <a:t>-ban (</a:t>
            </a:r>
            <a:r>
              <a:rPr lang="hu-HU" sz="2800" dirty="0" err="1">
                <a:solidFill>
                  <a:srgbClr val="FF0000"/>
                </a:solidFill>
              </a:rPr>
              <a:t>tensorflowOK.ipynb</a:t>
            </a:r>
            <a:r>
              <a:rPr lang="hu-HU" sz="28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282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5E8C7F-234A-1CE1-FE0A-6B758022C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irodalom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F16A9F-7C88-CB60-4174-E4C8B7A18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b="1" dirty="0"/>
              <a:t>Harrison </a:t>
            </a:r>
            <a:r>
              <a:rPr lang="hu-HU" sz="2400" b="1" dirty="0" err="1"/>
              <a:t>Kinsley</a:t>
            </a:r>
            <a:r>
              <a:rPr lang="hu-HU" sz="2400" b="1" dirty="0"/>
              <a:t> &amp; Daniel </a:t>
            </a:r>
            <a:r>
              <a:rPr lang="hu-HU" sz="2400" b="1" dirty="0" err="1"/>
              <a:t>Kukiela</a:t>
            </a:r>
            <a:r>
              <a:rPr lang="hu-HU" sz="2400" b="1" dirty="0"/>
              <a:t>: </a:t>
            </a:r>
            <a:r>
              <a:rPr lang="hu-HU" sz="2400" b="1" dirty="0" err="1"/>
              <a:t>Neural</a:t>
            </a:r>
            <a:r>
              <a:rPr lang="hu-HU" sz="2400" b="1" dirty="0"/>
              <a:t> </a:t>
            </a:r>
            <a:r>
              <a:rPr lang="hu-HU" sz="2400" b="1" dirty="0" err="1"/>
              <a:t>Networks</a:t>
            </a:r>
            <a:r>
              <a:rPr lang="hu-HU" sz="2400" b="1" dirty="0"/>
              <a:t> </a:t>
            </a:r>
            <a:r>
              <a:rPr lang="hu-HU" sz="2400" b="1" dirty="0" err="1"/>
              <a:t>from</a:t>
            </a:r>
            <a:r>
              <a:rPr lang="hu-HU" sz="2400" b="1" dirty="0"/>
              <a:t> </a:t>
            </a:r>
            <a:r>
              <a:rPr lang="hu-HU" sz="2400" b="1" dirty="0" err="1"/>
              <a:t>Scratch</a:t>
            </a:r>
            <a:r>
              <a:rPr lang="hu-HU" sz="2400" b="1" dirty="0"/>
              <a:t> in Python (2020 Harrison </a:t>
            </a:r>
            <a:r>
              <a:rPr lang="hu-HU" sz="2400" b="1" dirty="0" err="1"/>
              <a:t>Kinsley</a:t>
            </a:r>
            <a:r>
              <a:rPr lang="hu-HU" sz="2400" b="1" dirty="0"/>
              <a:t>)</a:t>
            </a:r>
          </a:p>
          <a:p>
            <a:r>
              <a:rPr lang="hu-HU" sz="2400" b="1" dirty="0"/>
              <a:t>Deep </a:t>
            </a:r>
            <a:r>
              <a:rPr lang="hu-HU" sz="2400" b="1" dirty="0" err="1"/>
              <a:t>Learning</a:t>
            </a:r>
            <a:r>
              <a:rPr lang="hu-HU" sz="2400" b="1" dirty="0"/>
              <a:t> </a:t>
            </a:r>
            <a:r>
              <a:rPr lang="hu-HU" sz="2400" b="1" dirty="0" err="1"/>
              <a:t>for</a:t>
            </a:r>
            <a:r>
              <a:rPr lang="hu-HU" sz="2400" b="1" dirty="0"/>
              <a:t> Computer Vision (Stanford - Spring 2025)</a:t>
            </a:r>
          </a:p>
        </p:txBody>
      </p:sp>
    </p:spTree>
    <p:extLst>
      <p:ext uri="{BB962C8B-B14F-4D97-AF65-F5344CB8AC3E}">
        <p14:creationId xmlns:p14="http://schemas.microsoft.com/office/powerpoint/2010/main" val="414476384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1980</Words>
  <Application>Microsoft Macintosh PowerPoint</Application>
  <PresentationFormat>Szélesvásznú</PresentationFormat>
  <Paragraphs>277</Paragraphs>
  <Slides>31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31</vt:i4>
      </vt:variant>
    </vt:vector>
  </HeadingPairs>
  <TitlesOfParts>
    <vt:vector size="37" baseType="lpstr">
      <vt:lpstr>Arial</vt:lpstr>
      <vt:lpstr>Avenir Next LT Pro</vt:lpstr>
      <vt:lpstr>Grandview Display</vt:lpstr>
      <vt:lpstr>Menlo</vt:lpstr>
      <vt:lpstr>Times New Roman</vt:lpstr>
      <vt:lpstr>DashVTI</vt:lpstr>
      <vt:lpstr>10. Előadás Python kurzus</vt:lpstr>
      <vt:lpstr>10. Előadás              Neurális háló Python nyelvű implementációja</vt:lpstr>
      <vt:lpstr>Neurális hálók</vt:lpstr>
      <vt:lpstr>Prediktálás</vt:lpstr>
      <vt:lpstr>Neurális hálók - a cél:</vt:lpstr>
      <vt:lpstr>Egyszerű neuron (perceptron)</vt:lpstr>
      <vt:lpstr>Mesterséges neuron és neurális háló</vt:lpstr>
      <vt:lpstr>Eredmény kiszámítása egyetlen neuronra</vt:lpstr>
      <vt:lpstr>Ugyanez egy layer esetén</vt:lpstr>
      <vt:lpstr>Layerek (probléma)</vt:lpstr>
      <vt:lpstr>Több rejtett Layer</vt:lpstr>
      <vt:lpstr>Az oszlop és a sorvektor technikailag mátrixok. </vt:lpstr>
      <vt:lpstr>Hogyan lett két vektorból sor és oszlopvektor?   </vt:lpstr>
      <vt:lpstr>Eredmény</vt:lpstr>
      <vt:lpstr>Hogy működnek a numpy tömbök</vt:lpstr>
      <vt:lpstr>Hogy működnek a numpy tömbök (transzponált)</vt:lpstr>
      <vt:lpstr>Megoldás: transzponált (numpy as np)</vt:lpstr>
      <vt:lpstr>Inputok és súlyok szorzata</vt:lpstr>
      <vt:lpstr>Transzponált</vt:lpstr>
      <vt:lpstr>Neurális háló</vt:lpstr>
      <vt:lpstr>A adatok (elő)készítése</vt:lpstr>
      <vt:lpstr>Adatok</vt:lpstr>
      <vt:lpstr>Adatok</vt:lpstr>
      <vt:lpstr>X, y = create_data(samples = 100, classes = 3) </vt:lpstr>
      <vt:lpstr>Neurális háló</vt:lpstr>
      <vt:lpstr>Rejtett layer</vt:lpstr>
      <vt:lpstr>Aktiválási függvény</vt:lpstr>
      <vt:lpstr>ReLU</vt:lpstr>
      <vt:lpstr>Implementáció (neurális háló)</vt:lpstr>
      <vt:lpstr>Tensorflow/keras – neurális hálók tanítása</vt:lpstr>
      <vt:lpstr>Felhasznált irodalom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Király Roland</dc:creator>
  <cp:lastModifiedBy>Király Roland</cp:lastModifiedBy>
  <cp:revision>44</cp:revision>
  <dcterms:created xsi:type="dcterms:W3CDTF">2025-04-13T12:06:32Z</dcterms:created>
  <dcterms:modified xsi:type="dcterms:W3CDTF">2025-04-15T20:44:07Z</dcterms:modified>
</cp:coreProperties>
</file>